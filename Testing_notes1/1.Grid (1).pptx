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14"/>
  </p:notesMasterIdLst>
  <p:handoutMasterIdLst>
    <p:handoutMasterId r:id="rId15"/>
  </p:handoutMasterIdLst>
  <p:sldIdLst>
    <p:sldId id="2147479184" r:id="rId5"/>
    <p:sldId id="2147479196" r:id="rId6"/>
    <p:sldId id="2147479203" r:id="rId7"/>
    <p:sldId id="2147479197" r:id="rId8"/>
    <p:sldId id="2147479199" r:id="rId9"/>
    <p:sldId id="2147479202" r:id="rId10"/>
    <p:sldId id="2147479204" r:id="rId11"/>
    <p:sldId id="2147479200" r:id="rId12"/>
    <p:sldId id="214747920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ABF37C-DC02-4515-A119-D8D5735D02F5}" v="11" dt="2026-01-21T06:32:33.949"/>
  </p1510:revLst>
</p1510:revInfo>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39" autoAdjust="0"/>
  </p:normalViewPr>
  <p:slideViewPr>
    <p:cSldViewPr snapToGrid="0">
      <p:cViewPr varScale="1">
        <p:scale>
          <a:sx n="63" d="100"/>
          <a:sy n="63" d="100"/>
        </p:scale>
        <p:origin x="804" y="56"/>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6440" y="228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n, Poornima Swarna (Cognizant)" userId="36824357-ffbd-40a5-b000-b82d0f7dca89" providerId="ADAL" clId="{BB20CA10-5FC3-4CCD-8518-89B0931CAB48}"/>
    <pc:docChg chg="custSel addSld modSld">
      <pc:chgData name="Mohan, Poornima Swarna (Cognizant)" userId="36824357-ffbd-40a5-b000-b82d0f7dca89" providerId="ADAL" clId="{BB20CA10-5FC3-4CCD-8518-89B0931CAB48}" dt="2026-01-21T06:44:08.536" v="106" actId="113"/>
      <pc:docMkLst>
        <pc:docMk/>
      </pc:docMkLst>
      <pc:sldChg chg="delSp modSp mod">
        <pc:chgData name="Mohan, Poornima Swarna (Cognizant)" userId="36824357-ffbd-40a5-b000-b82d0f7dca89" providerId="ADAL" clId="{BB20CA10-5FC3-4CCD-8518-89B0931CAB48}" dt="2026-01-21T05:38:36.744" v="37" actId="14100"/>
        <pc:sldMkLst>
          <pc:docMk/>
          <pc:sldMk cId="3473122175" sldId="2147479196"/>
        </pc:sldMkLst>
        <pc:spChg chg="mod">
          <ac:chgData name="Mohan, Poornima Swarna (Cognizant)" userId="36824357-ffbd-40a5-b000-b82d0f7dca89" providerId="ADAL" clId="{BB20CA10-5FC3-4CCD-8518-89B0931CAB48}" dt="2026-01-21T05:29:15.111" v="26" actId="1076"/>
          <ac:spMkLst>
            <pc:docMk/>
            <pc:sldMk cId="3473122175" sldId="2147479196"/>
            <ac:spMk id="3" creationId="{9B42854F-BE20-BFCD-F376-CDC355C8D9C7}"/>
          </ac:spMkLst>
        </pc:spChg>
        <pc:spChg chg="mod">
          <ac:chgData name="Mohan, Poornima Swarna (Cognizant)" userId="36824357-ffbd-40a5-b000-b82d0f7dca89" providerId="ADAL" clId="{BB20CA10-5FC3-4CCD-8518-89B0931CAB48}" dt="2026-01-21T05:38:36.744" v="37" actId="14100"/>
          <ac:spMkLst>
            <pc:docMk/>
            <pc:sldMk cId="3473122175" sldId="2147479196"/>
            <ac:spMk id="9" creationId="{332C6AAD-55E6-DCED-4206-F927B2A7A241}"/>
          </ac:spMkLst>
        </pc:spChg>
        <pc:spChg chg="del">
          <ac:chgData name="Mohan, Poornima Swarna (Cognizant)" userId="36824357-ffbd-40a5-b000-b82d0f7dca89" providerId="ADAL" clId="{BB20CA10-5FC3-4CCD-8518-89B0931CAB48}" dt="2026-01-21T05:28:42.738" v="19" actId="478"/>
          <ac:spMkLst>
            <pc:docMk/>
            <pc:sldMk cId="3473122175" sldId="2147479196"/>
            <ac:spMk id="12" creationId="{F27FA5B5-F58D-7C20-49E9-0182D3B0E2EF}"/>
          </ac:spMkLst>
        </pc:spChg>
        <pc:picChg chg="del">
          <ac:chgData name="Mohan, Poornima Swarna (Cognizant)" userId="36824357-ffbd-40a5-b000-b82d0f7dca89" providerId="ADAL" clId="{BB20CA10-5FC3-4CCD-8518-89B0931CAB48}" dt="2026-01-21T05:28:42.738" v="19" actId="478"/>
          <ac:picMkLst>
            <pc:docMk/>
            <pc:sldMk cId="3473122175" sldId="2147479196"/>
            <ac:picMk id="1028" creationId="{D7D6D37F-1AFE-D663-6222-9B38A832942A}"/>
          </ac:picMkLst>
        </pc:picChg>
      </pc:sldChg>
      <pc:sldChg chg="modSp mod">
        <pc:chgData name="Mohan, Poornima Swarna (Cognizant)" userId="36824357-ffbd-40a5-b000-b82d0f7dca89" providerId="ADAL" clId="{BB20CA10-5FC3-4CCD-8518-89B0931CAB48}" dt="2026-01-21T05:37:05.377" v="34" actId="1076"/>
        <pc:sldMkLst>
          <pc:docMk/>
          <pc:sldMk cId="120392474" sldId="2147479197"/>
        </pc:sldMkLst>
        <pc:spChg chg="mod">
          <ac:chgData name="Mohan, Poornima Swarna (Cognizant)" userId="36824357-ffbd-40a5-b000-b82d0f7dca89" providerId="ADAL" clId="{BB20CA10-5FC3-4CCD-8518-89B0931CAB48}" dt="2026-01-21T05:37:05.377" v="34" actId="1076"/>
          <ac:spMkLst>
            <pc:docMk/>
            <pc:sldMk cId="120392474" sldId="2147479197"/>
            <ac:spMk id="10" creationId="{430293E8-C61F-3579-2E50-E599E472829B}"/>
          </ac:spMkLst>
        </pc:spChg>
      </pc:sldChg>
      <pc:sldChg chg="delSp modSp mod">
        <pc:chgData name="Mohan, Poornima Swarna (Cognizant)" userId="36824357-ffbd-40a5-b000-b82d0f7dca89" providerId="ADAL" clId="{BB20CA10-5FC3-4CCD-8518-89B0931CAB48}" dt="2026-01-21T05:51:46.144" v="56" actId="478"/>
        <pc:sldMkLst>
          <pc:docMk/>
          <pc:sldMk cId="2584609179" sldId="2147479199"/>
        </pc:sldMkLst>
        <pc:spChg chg="mod">
          <ac:chgData name="Mohan, Poornima Swarna (Cognizant)" userId="36824357-ffbd-40a5-b000-b82d0f7dca89" providerId="ADAL" clId="{BB20CA10-5FC3-4CCD-8518-89B0931CAB48}" dt="2026-01-21T05:50:22.601" v="55" actId="20577"/>
          <ac:spMkLst>
            <pc:docMk/>
            <pc:sldMk cId="2584609179" sldId="2147479199"/>
            <ac:spMk id="7" creationId="{5C7D92AF-8D9A-7C66-77D4-B0DA28DCD258}"/>
          </ac:spMkLst>
        </pc:spChg>
        <pc:spChg chg="del mod">
          <ac:chgData name="Mohan, Poornima Swarna (Cognizant)" userId="36824357-ffbd-40a5-b000-b82d0f7dca89" providerId="ADAL" clId="{BB20CA10-5FC3-4CCD-8518-89B0931CAB48}" dt="2026-01-21T05:51:46.144" v="56" actId="478"/>
          <ac:spMkLst>
            <pc:docMk/>
            <pc:sldMk cId="2584609179" sldId="2147479199"/>
            <ac:spMk id="11" creationId="{0F915838-D3B3-0E71-D364-69A569152EF9}"/>
          </ac:spMkLst>
        </pc:spChg>
      </pc:sldChg>
      <pc:sldChg chg="delSp modSp mod">
        <pc:chgData name="Mohan, Poornima Swarna (Cognizant)" userId="36824357-ffbd-40a5-b000-b82d0f7dca89" providerId="ADAL" clId="{BB20CA10-5FC3-4CCD-8518-89B0931CAB48}" dt="2026-01-21T06:44:08.536" v="106" actId="113"/>
        <pc:sldMkLst>
          <pc:docMk/>
          <pc:sldMk cId="2215414402" sldId="2147479202"/>
        </pc:sldMkLst>
        <pc:spChg chg="mod">
          <ac:chgData name="Mohan, Poornima Swarna (Cognizant)" userId="36824357-ffbd-40a5-b000-b82d0f7dca89" providerId="ADAL" clId="{BB20CA10-5FC3-4CCD-8518-89B0931CAB48}" dt="2026-01-21T06:35:46.725" v="97" actId="20577"/>
          <ac:spMkLst>
            <pc:docMk/>
            <pc:sldMk cId="2215414402" sldId="2147479202"/>
            <ac:spMk id="3" creationId="{E10BCEB3-31A6-EDA7-C7B0-0F5213C9227F}"/>
          </ac:spMkLst>
        </pc:spChg>
        <pc:spChg chg="del mod">
          <ac:chgData name="Mohan, Poornima Swarna (Cognizant)" userId="36824357-ffbd-40a5-b000-b82d0f7dca89" providerId="ADAL" clId="{BB20CA10-5FC3-4CCD-8518-89B0931CAB48}" dt="2026-01-21T06:31:44.983" v="71" actId="478"/>
          <ac:spMkLst>
            <pc:docMk/>
            <pc:sldMk cId="2215414402" sldId="2147479202"/>
            <ac:spMk id="7" creationId="{8A969102-09B0-EC14-A064-4CC37FA60F4E}"/>
          </ac:spMkLst>
        </pc:spChg>
        <pc:spChg chg="mod">
          <ac:chgData name="Mohan, Poornima Swarna (Cognizant)" userId="36824357-ffbd-40a5-b000-b82d0f7dca89" providerId="ADAL" clId="{BB20CA10-5FC3-4CCD-8518-89B0931CAB48}" dt="2026-01-21T06:44:08.536" v="106" actId="113"/>
          <ac:spMkLst>
            <pc:docMk/>
            <pc:sldMk cId="2215414402" sldId="2147479202"/>
            <ac:spMk id="9" creationId="{7E58CE49-1E3B-026E-86A0-A6B347CBE291}"/>
          </ac:spMkLst>
        </pc:spChg>
      </pc:sldChg>
      <pc:sldChg chg="addSp delSp modSp add mod">
        <pc:chgData name="Mohan, Poornima Swarna (Cognizant)" userId="36824357-ffbd-40a5-b000-b82d0f7dca89" providerId="ADAL" clId="{BB20CA10-5FC3-4CCD-8518-89B0931CAB48}" dt="2026-01-21T05:28:35.564" v="18" actId="1076"/>
        <pc:sldMkLst>
          <pc:docMk/>
          <pc:sldMk cId="2406297599" sldId="2147479203"/>
        </pc:sldMkLst>
        <pc:spChg chg="del">
          <ac:chgData name="Mohan, Poornima Swarna (Cognizant)" userId="36824357-ffbd-40a5-b000-b82d0f7dca89" providerId="ADAL" clId="{BB20CA10-5FC3-4CCD-8518-89B0931CAB48}" dt="2026-01-21T05:28:04.247" v="6" actId="478"/>
          <ac:spMkLst>
            <pc:docMk/>
            <pc:sldMk cId="2406297599" sldId="2147479203"/>
            <ac:spMk id="3" creationId="{2F559DE9-64DD-A90C-9E44-123B9711E25B}"/>
          </ac:spMkLst>
        </pc:spChg>
        <pc:spChg chg="add del mod">
          <ac:chgData name="Mohan, Poornima Swarna (Cognizant)" userId="36824357-ffbd-40a5-b000-b82d0f7dca89" providerId="ADAL" clId="{BB20CA10-5FC3-4CCD-8518-89B0931CAB48}" dt="2026-01-21T05:28:06.555" v="7" actId="478"/>
          <ac:spMkLst>
            <pc:docMk/>
            <pc:sldMk cId="2406297599" sldId="2147479203"/>
            <ac:spMk id="6" creationId="{AE1F3D1C-6CCE-E4FE-F219-76B852925194}"/>
          </ac:spMkLst>
        </pc:spChg>
        <pc:spChg chg="del">
          <ac:chgData name="Mohan, Poornima Swarna (Cognizant)" userId="36824357-ffbd-40a5-b000-b82d0f7dca89" providerId="ADAL" clId="{BB20CA10-5FC3-4CCD-8518-89B0931CAB48}" dt="2026-01-21T05:28:01.102" v="5" actId="478"/>
          <ac:spMkLst>
            <pc:docMk/>
            <pc:sldMk cId="2406297599" sldId="2147479203"/>
            <ac:spMk id="9" creationId="{8780EB6B-2D8B-305D-ADBA-B0E39F679028}"/>
          </ac:spMkLst>
        </pc:spChg>
        <pc:spChg chg="mod">
          <ac:chgData name="Mohan, Poornima Swarna (Cognizant)" userId="36824357-ffbd-40a5-b000-b82d0f7dca89" providerId="ADAL" clId="{BB20CA10-5FC3-4CCD-8518-89B0931CAB48}" dt="2026-01-21T05:28:35.564" v="18" actId="1076"/>
          <ac:spMkLst>
            <pc:docMk/>
            <pc:sldMk cId="2406297599" sldId="2147479203"/>
            <ac:spMk id="12" creationId="{994220C4-ED7F-9252-E7A4-1494979AECEC}"/>
          </ac:spMkLst>
        </pc:spChg>
        <pc:picChg chg="mod">
          <ac:chgData name="Mohan, Poornima Swarna (Cognizant)" userId="36824357-ffbd-40a5-b000-b82d0f7dca89" providerId="ADAL" clId="{BB20CA10-5FC3-4CCD-8518-89B0931CAB48}" dt="2026-01-21T05:28:32.623" v="17" actId="1076"/>
          <ac:picMkLst>
            <pc:docMk/>
            <pc:sldMk cId="2406297599" sldId="2147479203"/>
            <ac:picMk id="1028" creationId="{C635D3DD-6147-378F-1AE7-6183D9F91868}"/>
          </ac:picMkLst>
        </pc:picChg>
      </pc:sldChg>
      <pc:sldChg chg="addSp delSp modSp add mod">
        <pc:chgData name="Mohan, Poornima Swarna (Cognizant)" userId="36824357-ffbd-40a5-b000-b82d0f7dca89" providerId="ADAL" clId="{BB20CA10-5FC3-4CCD-8518-89B0931CAB48}" dt="2026-01-21T06:40:34.764" v="103" actId="6549"/>
        <pc:sldMkLst>
          <pc:docMk/>
          <pc:sldMk cId="1275877961" sldId="2147479204"/>
        </pc:sldMkLst>
        <pc:spChg chg="mod">
          <ac:chgData name="Mohan, Poornima Swarna (Cognizant)" userId="36824357-ffbd-40a5-b000-b82d0f7dca89" providerId="ADAL" clId="{BB20CA10-5FC3-4CCD-8518-89B0931CAB48}" dt="2026-01-21T06:31:33.304" v="68" actId="20577"/>
          <ac:spMkLst>
            <pc:docMk/>
            <pc:sldMk cId="1275877961" sldId="2147479204"/>
            <ac:spMk id="2" creationId="{791CF0AE-DA4F-7D54-2BAA-2B30738B4B6E}"/>
          </ac:spMkLst>
        </pc:spChg>
        <pc:spChg chg="del">
          <ac:chgData name="Mohan, Poornima Swarna (Cognizant)" userId="36824357-ffbd-40a5-b000-b82d0f7dca89" providerId="ADAL" clId="{BB20CA10-5FC3-4CCD-8518-89B0931CAB48}" dt="2026-01-21T06:31:38.178" v="69" actId="478"/>
          <ac:spMkLst>
            <pc:docMk/>
            <pc:sldMk cId="1275877961" sldId="2147479204"/>
            <ac:spMk id="3" creationId="{792FA03F-0E2A-D948-35DB-57CB28AAA14B}"/>
          </ac:spMkLst>
        </pc:spChg>
        <pc:spChg chg="mod">
          <ac:chgData name="Mohan, Poornima Swarna (Cognizant)" userId="36824357-ffbd-40a5-b000-b82d0f7dca89" providerId="ADAL" clId="{BB20CA10-5FC3-4CCD-8518-89B0931CAB48}" dt="2026-01-21T06:40:34.764" v="103" actId="6549"/>
          <ac:spMkLst>
            <pc:docMk/>
            <pc:sldMk cId="1275877961" sldId="2147479204"/>
            <ac:spMk id="7" creationId="{57873306-C127-43E3-C665-70F3C8026BEE}"/>
          </ac:spMkLst>
        </pc:spChg>
        <pc:spChg chg="add del mod">
          <ac:chgData name="Mohan, Poornima Swarna (Cognizant)" userId="36824357-ffbd-40a5-b000-b82d0f7dca89" providerId="ADAL" clId="{BB20CA10-5FC3-4CCD-8518-89B0931CAB48}" dt="2026-01-21T06:31:40.382" v="70" actId="478"/>
          <ac:spMkLst>
            <pc:docMk/>
            <pc:sldMk cId="1275877961" sldId="2147479204"/>
            <ac:spMk id="8" creationId="{AD5872E9-9C61-88E9-9BB2-67D50FE646B7}"/>
          </ac:spMkLst>
        </pc:spChg>
        <pc:spChg chg="del">
          <ac:chgData name="Mohan, Poornima Swarna (Cognizant)" userId="36824357-ffbd-40a5-b000-b82d0f7dca89" providerId="ADAL" clId="{BB20CA10-5FC3-4CCD-8518-89B0931CAB48}" dt="2026-01-21T06:31:38.178" v="69" actId="478"/>
          <ac:spMkLst>
            <pc:docMk/>
            <pc:sldMk cId="1275877961" sldId="2147479204"/>
            <ac:spMk id="9" creationId="{C5D61D90-E8FF-7A18-E620-317BF78C247A}"/>
          </ac:spMkLst>
        </pc:sp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1/21/2026</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1/21/2026</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4C4EB-04C0-CB33-7AFF-E6F33C3B7F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4BE105-7259-5566-743E-4F13467B2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C12DD7-049B-FD8B-4C2F-1518F58CD211}"/>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F02E5BDE-FFC0-45A9-F840-262FA963D19D}"/>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03060B6-0845-5B89-9FA3-C132C5734283}"/>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B1187901-DB66-C0E0-E220-4BA058610047}"/>
              </a:ext>
            </a:extLst>
          </p:cNvPr>
          <p:cNvSpPr>
            <a:spLocks noGrp="1"/>
          </p:cNvSpPr>
          <p:nvPr>
            <p:ph type="sldNum" sz="quarter" idx="5"/>
          </p:nvPr>
        </p:nvSpPr>
        <p:spPr/>
        <p:txBody>
          <a:bodyPr/>
          <a:lstStyle/>
          <a:p>
            <a:fld id="{3B1EFD08-C94F-6048-8AD6-4B7ED2EB73E5}" type="slidenum">
              <a:rPr lang="en-US" smtClean="0"/>
              <a:pPr/>
              <a:t>2</a:t>
            </a:fld>
            <a:endParaRPr lang="en-US"/>
          </a:p>
        </p:txBody>
      </p:sp>
    </p:spTree>
    <p:extLst>
      <p:ext uri="{BB962C8B-B14F-4D97-AF65-F5344CB8AC3E}">
        <p14:creationId xmlns:p14="http://schemas.microsoft.com/office/powerpoint/2010/main" val="1235530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07716-149B-DA58-0396-D777D4B45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5348E-5F44-C871-8800-D77F17F4DD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11A440-43A8-58AB-A0C8-2487AD08EFE7}"/>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E6FAE16E-6F61-9957-48A7-524C8B5C93D8}"/>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A83773FD-504B-FFDE-99B6-3260705EB937}"/>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38810E68-C5D1-5F39-7005-9B169C17AC7B}"/>
              </a:ext>
            </a:extLst>
          </p:cNvPr>
          <p:cNvSpPr>
            <a:spLocks noGrp="1"/>
          </p:cNvSpPr>
          <p:nvPr>
            <p:ph type="sldNum" sz="quarter" idx="5"/>
          </p:nvPr>
        </p:nvSpPr>
        <p:spPr/>
        <p:txBody>
          <a:bodyPr/>
          <a:lstStyle/>
          <a:p>
            <a:fld id="{3B1EFD08-C94F-6048-8AD6-4B7ED2EB73E5}" type="slidenum">
              <a:rPr lang="en-US" smtClean="0"/>
              <a:pPr/>
              <a:t>3</a:t>
            </a:fld>
            <a:endParaRPr lang="en-US"/>
          </a:p>
        </p:txBody>
      </p:sp>
    </p:spTree>
    <p:extLst>
      <p:ext uri="{BB962C8B-B14F-4D97-AF65-F5344CB8AC3E}">
        <p14:creationId xmlns:p14="http://schemas.microsoft.com/office/powerpoint/2010/main" val="4230332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1/21/2026</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1/21/2026</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endParaRPr lang="en-US" dirty="0"/>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1/21/2026</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1/21/2026</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1/21/2026</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1/21/2026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1/21/2026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1/21/2026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1/21/2026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1/21/2026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1/21/2026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1/21/2026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1/21/2026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1/21/2026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1/21/2026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1/21/2026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1/21/2026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1/21/2026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1/21/2026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1/21/2026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1/21/2026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1/21/2026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1/21/2026</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1/21/2026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1/21/2026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1/21/2026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1/21/2026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1/21/2026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1/21/2026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1/21/2026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1/21/2026</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1/21/2026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1/21/2026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1/21/2026</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1/21/2026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1/21/2026</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1/21/2026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1/21/2026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1/21/2026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1/21/2026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1/21/2026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1/21/2026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1/21/2026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1/21/2026</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1/21/2026</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endParaRPr lang="en-US" dirty="0"/>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1/21/2026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1/21/2026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1/21/2026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1/21/2026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1/21/2026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1/21/2026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1/21/2026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1/21/2026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1/21/2026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1/21/2026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1/21/2026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1/21/2026</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1/21/2026</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1/21/2026</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1/21/2026</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endParaRPr lang="en-US" dirty="0"/>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1/21/2026</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SeleniumHQ/dockerselenium" TargetMode="Externa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1005839" y="3434965"/>
            <a:ext cx="4023360" cy="498598"/>
          </a:xfrm>
        </p:spPr>
        <p:txBody>
          <a:bodyPr/>
          <a:lstStyle/>
          <a:p>
            <a:r>
              <a:rPr lang="en-US" dirty="0"/>
              <a:t>Grid</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p:txBody>
          <a:bodyPr/>
          <a:lstStyle/>
          <a:p>
            <a:r>
              <a:rPr lang="en-US" dirty="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
        <p:nvSpPr>
          <p:cNvPr id="4" name="Text Placeholder 6">
            <a:extLst>
              <a:ext uri="{FF2B5EF4-FFF2-40B4-BE49-F238E27FC236}">
                <a16:creationId xmlns:a16="http://schemas.microsoft.com/office/drawing/2014/main" id="{BFECAF27-9593-C867-68EC-C8C04D40EEAC}"/>
              </a:ext>
            </a:extLst>
          </p:cNvPr>
          <p:cNvSpPr txBox="1">
            <a:spLocks/>
          </p:cNvSpPr>
          <p:nvPr/>
        </p:nvSpPr>
        <p:spPr bwMode="white">
          <a:xfrm>
            <a:off x="1005839" y="5811361"/>
            <a:ext cx="4023360" cy="187359"/>
          </a:xfrm>
          <a:prstGeom prst="rect">
            <a:avLst/>
          </a:prstGeom>
        </p:spPr>
        <p:txBody>
          <a:bodyPr vert="horz" lIns="0" tIns="0" rIns="0" bIns="0" rtlCol="0">
            <a:spAutoFit/>
          </a:bodyPr>
          <a:lstStyle>
            <a:lvl1pPr marL="0" indent="0" algn="l" defTabSz="914400" rtl="0" eaLnBrk="1" latinLnBrk="0" hangingPunct="1">
              <a:lnSpc>
                <a:spcPct val="110000"/>
              </a:lnSpc>
              <a:spcBef>
                <a:spcPts val="600"/>
              </a:spcBef>
              <a:spcAft>
                <a:spcPts val="0"/>
              </a:spcAft>
              <a:buClr>
                <a:schemeClr val="tx1"/>
              </a:buClr>
              <a:buFont typeface="Arial" panose="020B0604020202020204" pitchFamily="34" charset="0"/>
              <a:buNone/>
              <a:tabLst/>
              <a:defRPr sz="12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a:t>Poornima</a:t>
            </a:r>
            <a:endParaRPr lang="en-US" dirty="0"/>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ED82-5F4D-35FF-5CED-CCD3D31923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42854F-BE20-BFCD-F376-CDC355C8D9C7}"/>
              </a:ext>
            </a:extLst>
          </p:cNvPr>
          <p:cNvSpPr>
            <a:spLocks noGrp="1"/>
          </p:cNvSpPr>
          <p:nvPr>
            <p:ph idx="1"/>
          </p:nvPr>
        </p:nvSpPr>
        <p:spPr>
          <a:xfrm>
            <a:off x="457200" y="916362"/>
            <a:ext cx="11125200" cy="960121"/>
          </a:xfrm>
        </p:spPr>
        <p:txBody>
          <a:bodyPr/>
          <a:lstStyle/>
          <a:p>
            <a:pPr marL="0" indent="0">
              <a:buNone/>
            </a:pPr>
            <a:r>
              <a:rPr lang="en-US" sz="1700" dirty="0">
                <a:latin typeface="Comic Sans MS" panose="030F0702030302020204" pitchFamily="66" charset="0"/>
              </a:rPr>
              <a:t>Selenium Grid is a testing tool that is part of the Selenium Suite, designed to facilitate the execution of automated web application tests across multiple browsers, operating systems, and machines in parallel. This capability is crucial for ensuring that web applications function correctly across diverse user environments.</a:t>
            </a:r>
          </a:p>
        </p:txBody>
      </p:sp>
      <p:sp>
        <p:nvSpPr>
          <p:cNvPr id="7" name="Slide Number Placeholder 6">
            <a:extLst>
              <a:ext uri="{FF2B5EF4-FFF2-40B4-BE49-F238E27FC236}">
                <a16:creationId xmlns:a16="http://schemas.microsoft.com/office/drawing/2014/main" id="{EE66C658-DF93-65E6-B20E-81501513FE4E}"/>
              </a:ext>
            </a:extLst>
          </p:cNvPr>
          <p:cNvSpPr>
            <a:spLocks noGrp="1"/>
          </p:cNvSpPr>
          <p:nvPr>
            <p:ph type="sldNum" sz="quarter" idx="12"/>
          </p:nvPr>
        </p:nvSpPr>
        <p:spPr/>
        <p:txBody>
          <a:bodyPr/>
          <a:lstStyle/>
          <a:p>
            <a:fld id="{38826FC0-333C-E549-9FA3-0EE43DF298A3}" type="slidenum">
              <a:rPr lang="en-US" smtClean="0"/>
              <a:pPr/>
              <a:t>2</a:t>
            </a:fld>
            <a:endParaRPr lang="en-US"/>
          </a:p>
        </p:txBody>
      </p:sp>
      <p:sp>
        <p:nvSpPr>
          <p:cNvPr id="4" name="Footer Placeholder 3">
            <a:extLst>
              <a:ext uri="{FF2B5EF4-FFF2-40B4-BE49-F238E27FC236}">
                <a16:creationId xmlns:a16="http://schemas.microsoft.com/office/drawing/2014/main" id="{ED9B81C9-51FC-9901-D0D0-4609C403553D}"/>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02D35FDA-6501-E6FB-CC4B-AABB250FA90B}"/>
              </a:ext>
            </a:extLst>
          </p:cNvPr>
          <p:cNvSpPr>
            <a:spLocks noGrp="1"/>
          </p:cNvSpPr>
          <p:nvPr>
            <p:ph type="title"/>
          </p:nvPr>
        </p:nvSpPr>
        <p:spPr/>
        <p:txBody>
          <a:bodyPr/>
          <a:lstStyle/>
          <a:p>
            <a:r>
              <a:rPr lang="en-US" dirty="0"/>
              <a:t>Selenium Grid</a:t>
            </a:r>
          </a:p>
        </p:txBody>
      </p:sp>
      <p:sp>
        <p:nvSpPr>
          <p:cNvPr id="9" name="TextBox 8">
            <a:extLst>
              <a:ext uri="{FF2B5EF4-FFF2-40B4-BE49-F238E27FC236}">
                <a16:creationId xmlns:a16="http://schemas.microsoft.com/office/drawing/2014/main" id="{332C6AAD-55E6-DCED-4206-F927B2A7A241}"/>
              </a:ext>
            </a:extLst>
          </p:cNvPr>
          <p:cNvSpPr txBox="1"/>
          <p:nvPr/>
        </p:nvSpPr>
        <p:spPr>
          <a:xfrm>
            <a:off x="640080" y="2016797"/>
            <a:ext cx="10668000" cy="4031873"/>
          </a:xfrm>
          <a:prstGeom prst="rect">
            <a:avLst/>
          </a:prstGeom>
          <a:solidFill>
            <a:srgbClr val="F6F6F5"/>
          </a:solidFill>
        </p:spPr>
        <p:txBody>
          <a:bodyPr wrap="square">
            <a:spAutoFit/>
          </a:bodyPr>
          <a:lstStyle/>
          <a:p>
            <a:r>
              <a:rPr lang="en-IN" sz="1600" b="1" dirty="0">
                <a:latin typeface="Comic Sans MS" panose="030F0702030302020204" pitchFamily="66" charset="0"/>
              </a:rPr>
              <a:t>Key Components and Functionality:</a:t>
            </a:r>
          </a:p>
          <a:p>
            <a:endParaRPr lang="en-IN" sz="1600" b="1" dirty="0">
              <a:latin typeface="Comic Sans MS" panose="030F0702030302020204" pitchFamily="66" charset="0"/>
            </a:endParaRPr>
          </a:p>
          <a:p>
            <a:r>
              <a:rPr lang="en-IN" sz="1600" b="1" dirty="0">
                <a:latin typeface="Comic Sans MS" panose="030F0702030302020204" pitchFamily="66" charset="0"/>
              </a:rPr>
              <a:t>Hub</a:t>
            </a:r>
            <a:r>
              <a:rPr lang="en-IN" sz="1600" dirty="0">
                <a:latin typeface="Comic Sans MS" panose="030F0702030302020204" pitchFamily="66" charset="0"/>
              </a:rPr>
              <a:t>: The central server that manages and controls the test execution. It receives test requests from clients and distributes them to appropriate nodes based on the specified browser and operating system capabilities.</a:t>
            </a:r>
          </a:p>
          <a:p>
            <a:endParaRPr lang="en-IN" sz="1600" dirty="0">
              <a:latin typeface="Comic Sans MS" panose="030F0702030302020204" pitchFamily="66" charset="0"/>
            </a:endParaRPr>
          </a:p>
          <a:p>
            <a:r>
              <a:rPr lang="en-IN" sz="1600" b="1" dirty="0">
                <a:latin typeface="Comic Sans MS" panose="030F0702030302020204" pitchFamily="66" charset="0"/>
              </a:rPr>
              <a:t>Nodes</a:t>
            </a:r>
            <a:r>
              <a:rPr lang="en-IN" sz="1600" dirty="0">
                <a:latin typeface="Comic Sans MS" panose="030F0702030302020204" pitchFamily="66" charset="0"/>
              </a:rPr>
              <a:t>: Remote machines connected to the hub, where the actual test execution takes place. Each node is configured to run tests on specific browsers and operating systems. </a:t>
            </a:r>
          </a:p>
          <a:p>
            <a:endParaRPr lang="en-IN" sz="1600" dirty="0">
              <a:latin typeface="Comic Sans MS" panose="030F0702030302020204" pitchFamily="66" charset="0"/>
            </a:endParaRPr>
          </a:p>
          <a:p>
            <a:r>
              <a:rPr lang="en-IN" sz="1600" b="1" dirty="0">
                <a:latin typeface="Comic Sans MS" panose="030F0702030302020204" pitchFamily="66" charset="0"/>
              </a:rPr>
              <a:t>Parallel</a:t>
            </a:r>
            <a:r>
              <a:rPr lang="en-IN" sz="1600" dirty="0">
                <a:latin typeface="Comic Sans MS" panose="030F0702030302020204" pitchFamily="66" charset="0"/>
              </a:rPr>
              <a:t> </a:t>
            </a:r>
            <a:r>
              <a:rPr lang="en-IN" sz="1600" b="1" dirty="0">
                <a:latin typeface="Comic Sans MS" panose="030F0702030302020204" pitchFamily="66" charset="0"/>
              </a:rPr>
              <a:t>Execution</a:t>
            </a:r>
            <a:r>
              <a:rPr lang="en-IN" sz="1600" dirty="0">
                <a:latin typeface="Comic Sans MS" panose="030F0702030302020204" pitchFamily="66" charset="0"/>
              </a:rPr>
              <a:t>: Selenium Grid allows for the simultaneous execution of multiple test cases on different nodes, significantly reducing the overall test execution time.</a:t>
            </a:r>
          </a:p>
          <a:p>
            <a:endParaRPr lang="en-IN" sz="1600" dirty="0">
              <a:latin typeface="Comic Sans MS" panose="030F0702030302020204" pitchFamily="66" charset="0"/>
            </a:endParaRPr>
          </a:p>
          <a:p>
            <a:r>
              <a:rPr lang="en-IN" sz="1600" b="1" dirty="0">
                <a:latin typeface="Comic Sans MS" panose="030F0702030302020204" pitchFamily="66" charset="0"/>
              </a:rPr>
              <a:t>Cross-Browser and Cross-Platform Testing</a:t>
            </a:r>
            <a:r>
              <a:rPr lang="en-IN" sz="1600" dirty="0">
                <a:latin typeface="Comic Sans MS" panose="030F0702030302020204" pitchFamily="66" charset="0"/>
              </a:rPr>
              <a:t>: It enables testing across various browser versions (Chrome, Firefox, Edge, Safari, etc.) and operating systems (Windows, macOS, Linux), ensuring broad compatibility.</a:t>
            </a:r>
          </a:p>
          <a:p>
            <a:endParaRPr lang="en-IN" sz="1600" dirty="0">
              <a:latin typeface="Comic Sans MS" panose="030F0702030302020204" pitchFamily="66" charset="0"/>
            </a:endParaRPr>
          </a:p>
          <a:p>
            <a:r>
              <a:rPr lang="en-IN" sz="1600" b="1" dirty="0">
                <a:latin typeface="Comic Sans MS" panose="030F0702030302020204" pitchFamily="66" charset="0"/>
              </a:rPr>
              <a:t>Distributed Testing</a:t>
            </a:r>
            <a:r>
              <a:rPr lang="en-IN" sz="1600" dirty="0">
                <a:latin typeface="Comic Sans MS" panose="030F0702030302020204" pitchFamily="66" charset="0"/>
              </a:rPr>
              <a:t>: The hub and nodes can be located on different machines within a network, creating a distributed testing environment.</a:t>
            </a:r>
          </a:p>
        </p:txBody>
      </p:sp>
    </p:spTree>
    <p:extLst>
      <p:ext uri="{BB962C8B-B14F-4D97-AF65-F5344CB8AC3E}">
        <p14:creationId xmlns:p14="http://schemas.microsoft.com/office/powerpoint/2010/main" val="3473122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24923-DE04-2034-E910-54A54B4A1F1E}"/>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7DA6EA8-5C8F-D486-604A-E6190A5A105A}"/>
              </a:ext>
            </a:extLst>
          </p:cNvPr>
          <p:cNvSpPr>
            <a:spLocks noGrp="1"/>
          </p:cNvSpPr>
          <p:nvPr>
            <p:ph type="sldNum" sz="quarter" idx="12"/>
          </p:nvPr>
        </p:nvSpPr>
        <p:spPr/>
        <p:txBody>
          <a:bodyPr/>
          <a:lstStyle/>
          <a:p>
            <a:fld id="{38826FC0-333C-E549-9FA3-0EE43DF298A3}" type="slidenum">
              <a:rPr lang="en-US" smtClean="0"/>
              <a:pPr/>
              <a:t>3</a:t>
            </a:fld>
            <a:endParaRPr lang="en-US"/>
          </a:p>
        </p:txBody>
      </p:sp>
      <p:sp>
        <p:nvSpPr>
          <p:cNvPr id="4" name="Footer Placeholder 3">
            <a:extLst>
              <a:ext uri="{FF2B5EF4-FFF2-40B4-BE49-F238E27FC236}">
                <a16:creationId xmlns:a16="http://schemas.microsoft.com/office/drawing/2014/main" id="{CE4A7AB5-F704-D35E-6CBF-BCB8DA30396A}"/>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A7B1FAA9-0A90-1671-EE42-A00639F14603}"/>
              </a:ext>
            </a:extLst>
          </p:cNvPr>
          <p:cNvSpPr>
            <a:spLocks noGrp="1"/>
          </p:cNvSpPr>
          <p:nvPr>
            <p:ph type="title"/>
          </p:nvPr>
        </p:nvSpPr>
        <p:spPr/>
        <p:txBody>
          <a:bodyPr/>
          <a:lstStyle/>
          <a:p>
            <a:r>
              <a:rPr lang="en-US" dirty="0"/>
              <a:t>Selenium Grid</a:t>
            </a:r>
          </a:p>
        </p:txBody>
      </p:sp>
      <p:sp>
        <p:nvSpPr>
          <p:cNvPr id="12" name="TextBox 11">
            <a:extLst>
              <a:ext uri="{FF2B5EF4-FFF2-40B4-BE49-F238E27FC236}">
                <a16:creationId xmlns:a16="http://schemas.microsoft.com/office/drawing/2014/main" id="{994220C4-ED7F-9252-E7A4-1494979AECEC}"/>
              </a:ext>
            </a:extLst>
          </p:cNvPr>
          <p:cNvSpPr txBox="1"/>
          <p:nvPr/>
        </p:nvSpPr>
        <p:spPr>
          <a:xfrm>
            <a:off x="6096000" y="2399437"/>
            <a:ext cx="5120640" cy="2800767"/>
          </a:xfrm>
          <a:prstGeom prst="rect">
            <a:avLst/>
          </a:prstGeom>
          <a:solidFill>
            <a:srgbClr val="D7E5F4"/>
          </a:solidFill>
        </p:spPr>
        <p:txBody>
          <a:bodyPr wrap="square">
            <a:spAutoFit/>
          </a:bodyPr>
          <a:lstStyle/>
          <a:p>
            <a:r>
              <a:rPr lang="en-IN" sz="1600" b="1" dirty="0">
                <a:latin typeface="Comic Sans MS" panose="030F0702030302020204" pitchFamily="66" charset="0"/>
              </a:rPr>
              <a:t>How it Works:</a:t>
            </a:r>
          </a:p>
          <a:p>
            <a:pPr marL="285750" indent="-285750">
              <a:buFont typeface="Arial" panose="020B0604020202020204" pitchFamily="34" charset="0"/>
              <a:buChar char="•"/>
            </a:pPr>
            <a:r>
              <a:rPr lang="en-IN" sz="1600" i="1" dirty="0">
                <a:latin typeface="Comic Sans MS" panose="030F0702030302020204" pitchFamily="66" charset="0"/>
              </a:rPr>
              <a:t>A client sends a test request to the hub, specifying the desired browser and operating system.</a:t>
            </a:r>
          </a:p>
          <a:p>
            <a:pPr marL="285750" indent="-285750">
              <a:buFont typeface="Arial" panose="020B0604020202020204" pitchFamily="34" charset="0"/>
              <a:buChar char="•"/>
            </a:pPr>
            <a:r>
              <a:rPr lang="en-IN" sz="1600" i="1" dirty="0">
                <a:latin typeface="Comic Sans MS" panose="030F0702030302020204" pitchFamily="66" charset="0"/>
              </a:rPr>
              <a:t>The hub identifies an available node that matches the requested capabilities.</a:t>
            </a:r>
          </a:p>
          <a:p>
            <a:pPr marL="285750" indent="-285750">
              <a:buFont typeface="Arial" panose="020B0604020202020204" pitchFamily="34" charset="0"/>
              <a:buChar char="•"/>
            </a:pPr>
            <a:r>
              <a:rPr lang="en-IN" sz="1600" i="1" dirty="0">
                <a:latin typeface="Comic Sans MS" panose="030F0702030302020204" pitchFamily="66" charset="0"/>
              </a:rPr>
              <a:t>The hub routes the test commands to the chosen node.</a:t>
            </a:r>
          </a:p>
          <a:p>
            <a:pPr marL="285750" indent="-285750">
              <a:buFont typeface="Arial" panose="020B0604020202020204" pitchFamily="34" charset="0"/>
              <a:buChar char="•"/>
            </a:pPr>
            <a:r>
              <a:rPr lang="en-IN" sz="1600" i="1" dirty="0">
                <a:latin typeface="Comic Sans MS" panose="030F0702030302020204" pitchFamily="66" charset="0"/>
              </a:rPr>
              <a:t>The node executes the test on the specified browser and operating system.</a:t>
            </a:r>
          </a:p>
          <a:p>
            <a:pPr marL="285750" indent="-285750">
              <a:buFont typeface="Arial" panose="020B0604020202020204" pitchFamily="34" charset="0"/>
              <a:buChar char="•"/>
            </a:pPr>
            <a:r>
              <a:rPr lang="en-IN" sz="1600" i="1" dirty="0">
                <a:latin typeface="Comic Sans MS" panose="030F0702030302020204" pitchFamily="66" charset="0"/>
              </a:rPr>
              <a:t>Test results are reported back to the client.</a:t>
            </a:r>
          </a:p>
        </p:txBody>
      </p:sp>
      <p:pic>
        <p:nvPicPr>
          <p:cNvPr id="1028" name="Picture 4" descr="Selenium Grid | Working | Scope | Skills | Use | Advantages">
            <a:extLst>
              <a:ext uri="{FF2B5EF4-FFF2-40B4-BE49-F238E27FC236}">
                <a16:creationId xmlns:a16="http://schemas.microsoft.com/office/drawing/2014/main" id="{C635D3DD-6147-378F-1AE7-6183D9F918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 y="1669879"/>
            <a:ext cx="5120640" cy="3850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6297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97A57-7D9A-A4A1-19BD-F5C2A5B9C22A}"/>
              </a:ext>
            </a:extLst>
          </p:cNvPr>
          <p:cNvSpPr>
            <a:spLocks noGrp="1"/>
          </p:cNvSpPr>
          <p:nvPr>
            <p:ph type="title"/>
          </p:nvPr>
        </p:nvSpPr>
        <p:spPr/>
        <p:txBody>
          <a:bodyPr/>
          <a:lstStyle/>
          <a:p>
            <a:r>
              <a:rPr lang="en-IN" dirty="0"/>
              <a:t>Selenium 4 Architecture</a:t>
            </a:r>
          </a:p>
        </p:txBody>
      </p:sp>
      <p:sp>
        <p:nvSpPr>
          <p:cNvPr id="4" name="Footer Placeholder 3">
            <a:extLst>
              <a:ext uri="{FF2B5EF4-FFF2-40B4-BE49-F238E27FC236}">
                <a16:creationId xmlns:a16="http://schemas.microsoft.com/office/drawing/2014/main" id="{6055FD13-9F17-9EEB-5BB4-5145858A6043}"/>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5ACFA816-9E9B-1112-B8F0-634421714AE7}"/>
              </a:ext>
            </a:extLst>
          </p:cNvPr>
          <p:cNvSpPr>
            <a:spLocks noGrp="1"/>
          </p:cNvSpPr>
          <p:nvPr>
            <p:ph type="sldNum" sz="quarter" idx="12"/>
          </p:nvPr>
        </p:nvSpPr>
        <p:spPr/>
        <p:txBody>
          <a:bodyPr/>
          <a:lstStyle/>
          <a:p>
            <a:fld id="{38826FC0-333C-E549-9FA3-0EE43DF298A3}" type="slidenum">
              <a:rPr lang="en-US" smtClean="0"/>
              <a:pPr/>
              <a:t>4</a:t>
            </a:fld>
            <a:endParaRPr lang="en-US" dirty="0"/>
          </a:p>
        </p:txBody>
      </p:sp>
      <p:pic>
        <p:nvPicPr>
          <p:cNvPr id="2056" name="Picture 8" descr="Selenium Grid 4 Components">
            <a:extLst>
              <a:ext uri="{FF2B5EF4-FFF2-40B4-BE49-F238E27FC236}">
                <a16:creationId xmlns:a16="http://schemas.microsoft.com/office/drawing/2014/main" id="{0CDA246D-8A10-8EAD-7E33-0ACC04A009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1" y="1556444"/>
            <a:ext cx="5019039" cy="45243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30293E8-C61F-3579-2E50-E599E472829B}"/>
              </a:ext>
            </a:extLst>
          </p:cNvPr>
          <p:cNvSpPr txBox="1"/>
          <p:nvPr/>
        </p:nvSpPr>
        <p:spPr>
          <a:xfrm>
            <a:off x="5598160" y="669289"/>
            <a:ext cx="6421120" cy="5909310"/>
          </a:xfrm>
          <a:prstGeom prst="rect">
            <a:avLst/>
          </a:prstGeom>
          <a:noFill/>
        </p:spPr>
        <p:txBody>
          <a:bodyPr wrap="square">
            <a:spAutoFit/>
          </a:bodyPr>
          <a:lstStyle/>
          <a:p>
            <a:r>
              <a:rPr lang="en-IN" sz="1400" b="1" dirty="0">
                <a:latin typeface="Comic Sans MS" panose="030F0702030302020204" pitchFamily="66" charset="0"/>
              </a:rPr>
              <a:t>Router: </a:t>
            </a:r>
            <a:r>
              <a:rPr lang="en-IN" sz="1400" dirty="0">
                <a:latin typeface="Comic Sans MS" panose="030F0702030302020204" pitchFamily="66" charset="0"/>
              </a:rPr>
              <a:t>Acts as the entry point for all requests. It determines whether a request is for an existing session or a new one. For existing sessions, it queries the Session Map to route the request to the appropriate Node. For new sessions, it forwards the request to the New Session Queue.</a:t>
            </a:r>
          </a:p>
          <a:p>
            <a:endParaRPr lang="en-IN" sz="1400" dirty="0">
              <a:latin typeface="Comic Sans MS" panose="030F0702030302020204" pitchFamily="66" charset="0"/>
            </a:endParaRPr>
          </a:p>
          <a:p>
            <a:r>
              <a:rPr lang="en-IN" sz="1400" b="1" dirty="0">
                <a:latin typeface="Comic Sans MS" panose="030F0702030302020204" pitchFamily="66" charset="0"/>
              </a:rPr>
              <a:t>Distributor</a:t>
            </a:r>
            <a:r>
              <a:rPr lang="en-IN" sz="1400" dirty="0">
                <a:latin typeface="Comic Sans MS" panose="030F0702030302020204" pitchFamily="66" charset="0"/>
              </a:rPr>
              <a:t>: Responsible for assigning new session requests to Nodes. It maintains a model of available Nodes and their capabilities. When a Node registers, the Distributor acknowledges it and updates its state to ensure proper session allocation.</a:t>
            </a:r>
          </a:p>
          <a:p>
            <a:endParaRPr lang="en-IN" sz="1400" b="1" dirty="0">
              <a:latin typeface="Comic Sans MS" panose="030F0702030302020204" pitchFamily="66" charset="0"/>
            </a:endParaRPr>
          </a:p>
          <a:p>
            <a:r>
              <a:rPr lang="en-IN" sz="1400" b="1" dirty="0">
                <a:latin typeface="Comic Sans MS" panose="030F0702030302020204" pitchFamily="66" charset="0"/>
              </a:rPr>
              <a:t>Session Map</a:t>
            </a:r>
            <a:r>
              <a:rPr lang="en-IN" sz="1400" dirty="0">
                <a:latin typeface="Comic Sans MS" panose="030F0702030302020204" pitchFamily="66" charset="0"/>
              </a:rPr>
              <a:t>: Maintains a mapping between session IDs and the Nodes where the sessions are running. This allows the Router to efficiently direct requests to the correct Node.</a:t>
            </a:r>
          </a:p>
          <a:p>
            <a:endParaRPr lang="en-IN" sz="1400" b="1" dirty="0">
              <a:latin typeface="Comic Sans MS" panose="030F0702030302020204" pitchFamily="66" charset="0"/>
            </a:endParaRPr>
          </a:p>
          <a:p>
            <a:r>
              <a:rPr lang="en-IN" sz="1400" b="1" dirty="0">
                <a:latin typeface="Comic Sans MS" panose="030F0702030302020204" pitchFamily="66" charset="0"/>
              </a:rPr>
              <a:t>New Session Queue: </a:t>
            </a:r>
            <a:r>
              <a:rPr lang="en-IN" sz="1400" dirty="0">
                <a:latin typeface="Comic Sans MS" panose="030F0702030302020204" pitchFamily="66" charset="0"/>
              </a:rPr>
              <a:t>Handles incoming session requests in a first-come, first-serve manner. It ensures that requests are processed only if they haven't timed out. The Distributor polls this queue to assign sessions to Nodes.</a:t>
            </a:r>
          </a:p>
          <a:p>
            <a:endParaRPr lang="en-IN" sz="1400" dirty="0">
              <a:latin typeface="Comic Sans MS" panose="030F0702030302020204" pitchFamily="66" charset="0"/>
            </a:endParaRPr>
          </a:p>
          <a:p>
            <a:r>
              <a:rPr lang="en-IN" sz="1400" b="1" dirty="0">
                <a:latin typeface="Comic Sans MS" panose="030F0702030302020204" pitchFamily="66" charset="0"/>
              </a:rPr>
              <a:t>Event Bus: </a:t>
            </a:r>
            <a:r>
              <a:rPr lang="en-IN" sz="1400" dirty="0">
                <a:latin typeface="Comic Sans MS" panose="030F0702030302020204" pitchFamily="66" charset="0"/>
              </a:rPr>
              <a:t>Facilitates asynchronous communication between components like the Distributor, Nodes, and Session Map. It reduces the overhead of HTTP calls by enabling lightweight event-based messaging.</a:t>
            </a:r>
          </a:p>
          <a:p>
            <a:endParaRPr lang="en-IN" sz="1400" dirty="0">
              <a:latin typeface="Comic Sans MS" panose="030F0702030302020204" pitchFamily="66" charset="0"/>
            </a:endParaRPr>
          </a:p>
          <a:p>
            <a:r>
              <a:rPr lang="en-IN" sz="1400" b="1" dirty="0">
                <a:latin typeface="Comic Sans MS" panose="030F0702030302020204" pitchFamily="66" charset="0"/>
              </a:rPr>
              <a:t>Node</a:t>
            </a:r>
            <a:r>
              <a:rPr lang="en-IN" sz="1400" dirty="0">
                <a:latin typeface="Comic Sans MS" panose="030F0702030302020204" pitchFamily="66" charset="0"/>
              </a:rPr>
              <a:t>: Executes the test sessions. Each Node can have multiple slots, which represent the capacity to run concurrent sessions. Nodes register themselves with the Distributor and send periodic heartbeat signals to indicate their status.</a:t>
            </a:r>
          </a:p>
        </p:txBody>
      </p:sp>
    </p:spTree>
    <p:extLst>
      <p:ext uri="{BB962C8B-B14F-4D97-AF65-F5344CB8AC3E}">
        <p14:creationId xmlns:p14="http://schemas.microsoft.com/office/powerpoint/2010/main" val="120392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A581C-5AA7-2085-49CD-E658BD56F777}"/>
              </a:ext>
            </a:extLst>
          </p:cNvPr>
          <p:cNvSpPr>
            <a:spLocks noGrp="1"/>
          </p:cNvSpPr>
          <p:nvPr>
            <p:ph type="title"/>
          </p:nvPr>
        </p:nvSpPr>
        <p:spPr/>
        <p:txBody>
          <a:bodyPr/>
          <a:lstStyle/>
          <a:p>
            <a:r>
              <a:rPr lang="en-IN" dirty="0"/>
              <a:t>How to run Selenium Grid?</a:t>
            </a:r>
          </a:p>
        </p:txBody>
      </p:sp>
      <p:sp>
        <p:nvSpPr>
          <p:cNvPr id="4" name="Footer Placeholder 3">
            <a:extLst>
              <a:ext uri="{FF2B5EF4-FFF2-40B4-BE49-F238E27FC236}">
                <a16:creationId xmlns:a16="http://schemas.microsoft.com/office/drawing/2014/main" id="{ABAB2EAE-6CD5-7D2F-3E4B-2E72CE1DAB41}"/>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42DE0818-429B-61AC-5604-B62AE7EFFB65}"/>
              </a:ext>
            </a:extLst>
          </p:cNvPr>
          <p:cNvSpPr>
            <a:spLocks noGrp="1"/>
          </p:cNvSpPr>
          <p:nvPr>
            <p:ph type="sldNum" sz="quarter" idx="12"/>
          </p:nvPr>
        </p:nvSpPr>
        <p:spPr/>
        <p:txBody>
          <a:bodyPr/>
          <a:lstStyle/>
          <a:p>
            <a:fld id="{38826FC0-333C-E549-9FA3-0EE43DF298A3}" type="slidenum">
              <a:rPr lang="en-US" smtClean="0"/>
              <a:pPr/>
              <a:t>5</a:t>
            </a:fld>
            <a:endParaRPr lang="en-US" dirty="0"/>
          </a:p>
        </p:txBody>
      </p:sp>
      <p:sp>
        <p:nvSpPr>
          <p:cNvPr id="7" name="TextBox 6">
            <a:extLst>
              <a:ext uri="{FF2B5EF4-FFF2-40B4-BE49-F238E27FC236}">
                <a16:creationId xmlns:a16="http://schemas.microsoft.com/office/drawing/2014/main" id="{5C7D92AF-8D9A-7C66-77D4-B0DA28DCD258}"/>
              </a:ext>
            </a:extLst>
          </p:cNvPr>
          <p:cNvSpPr txBox="1"/>
          <p:nvPr/>
        </p:nvSpPr>
        <p:spPr>
          <a:xfrm>
            <a:off x="640080" y="878782"/>
            <a:ext cx="6096000" cy="5100435"/>
          </a:xfrm>
          <a:prstGeom prst="rect">
            <a:avLst/>
          </a:prstGeom>
          <a:noFill/>
        </p:spPr>
        <p:txBody>
          <a:bodyPr wrap="square">
            <a:spAutoFit/>
          </a:bodyPr>
          <a:lstStyle/>
          <a:p>
            <a:pPr>
              <a:lnSpc>
                <a:spcPct val="107000"/>
              </a:lnSpc>
              <a:spcAft>
                <a:spcPts val="800"/>
              </a:spcAft>
              <a:buNone/>
            </a:pPr>
            <a:r>
              <a:rPr lang="en-US" sz="1400" b="1" u="sng" dirty="0">
                <a:effectLst/>
                <a:latin typeface="Comic Sans MS" panose="030F0702030302020204" pitchFamily="66" charset="0"/>
                <a:ea typeface="Calibri" panose="020F0502020204030204" pitchFamily="34" charset="0"/>
                <a:cs typeface="Calibri" panose="020F0502020204030204" pitchFamily="34" charset="0"/>
              </a:rPr>
              <a:t>Standalone Setup (Single machine):</a:t>
            </a: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marL="171450" lvl="0" indent="-171450">
              <a:lnSpc>
                <a:spcPct val="107000"/>
              </a:lnSpc>
              <a:buFont typeface="Arial" panose="020B0604020202020204" pitchFamily="34" charset="0"/>
              <a:buChar char="•"/>
            </a:pPr>
            <a:r>
              <a:rPr lang="en-US" sz="1400" dirty="0">
                <a:effectLst/>
                <a:latin typeface="Comic Sans MS" panose="030F0702030302020204" pitchFamily="66" charset="0"/>
                <a:ea typeface="Calibri" panose="020F0502020204030204" pitchFamily="34" charset="0"/>
                <a:cs typeface="Calibri" panose="020F0502020204030204" pitchFamily="34" charset="0"/>
              </a:rPr>
              <a:t>Download </a:t>
            </a:r>
            <a:r>
              <a:rPr lang="en-US" sz="1400" dirty="0">
                <a:solidFill>
                  <a:srgbClr val="C00000"/>
                </a:solidFill>
                <a:effectLst/>
                <a:latin typeface="Comic Sans MS" panose="030F0702030302020204" pitchFamily="66" charset="0"/>
                <a:ea typeface="Calibri" panose="020F0502020204030204" pitchFamily="34" charset="0"/>
                <a:cs typeface="Calibri" panose="020F0502020204030204" pitchFamily="34" charset="0"/>
              </a:rPr>
              <a:t>selenium-server-4.39.0.jar </a:t>
            </a:r>
            <a:r>
              <a:rPr lang="en-US" sz="1400" dirty="0">
                <a:effectLst/>
                <a:latin typeface="Comic Sans MS" panose="030F0702030302020204" pitchFamily="66" charset="0"/>
                <a:ea typeface="Calibri" panose="020F0502020204030204" pitchFamily="34" charset="0"/>
                <a:cs typeface="Calibri" panose="020F0502020204030204" pitchFamily="34" charset="0"/>
              </a:rPr>
              <a:t>and place it somewhere.</a:t>
            </a: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marL="171450" lvl="0" indent="-171450">
              <a:lnSpc>
                <a:spcPct val="107000"/>
              </a:lnSpc>
              <a:buFont typeface="Arial" panose="020B0604020202020204" pitchFamily="34" charset="0"/>
              <a:buChar char="•"/>
            </a:pPr>
            <a:r>
              <a:rPr lang="en-US" sz="1400" dirty="0">
                <a:effectLst/>
                <a:latin typeface="Comic Sans MS" panose="030F0702030302020204" pitchFamily="66" charset="0"/>
                <a:ea typeface="Calibri" panose="020F0502020204030204" pitchFamily="34" charset="0"/>
                <a:cs typeface="Calibri" panose="020F0502020204030204" pitchFamily="34" charset="0"/>
              </a:rPr>
              <a:t>Run below command to start Selenium Grid</a:t>
            </a: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marL="1085850" indent="-171450">
              <a:lnSpc>
                <a:spcPct val="107000"/>
              </a:lnSpc>
              <a:buFont typeface="Arial" panose="020B0604020202020204" pitchFamily="34" charset="0"/>
              <a:buChar char="•"/>
            </a:pPr>
            <a:r>
              <a:rPr lang="en-US" sz="1400" dirty="0">
                <a:solidFill>
                  <a:srgbClr val="C00000"/>
                </a:solidFill>
                <a:effectLst/>
                <a:latin typeface="Comic Sans MS" panose="030F0702030302020204" pitchFamily="66" charset="0"/>
                <a:ea typeface="Calibri" panose="020F0502020204030204" pitchFamily="34" charset="0"/>
                <a:cs typeface="Calibri" panose="020F0502020204030204" pitchFamily="34" charset="0"/>
              </a:rPr>
              <a:t>java -jar </a:t>
            </a:r>
            <a:r>
              <a:rPr lang="en-US" sz="1400" dirty="0">
                <a:solidFill>
                  <a:srgbClr val="C00000"/>
                </a:solidFill>
                <a:latin typeface="Comic Sans MS" panose="030F0702030302020204" pitchFamily="66" charset="0"/>
                <a:ea typeface="Calibri" panose="020F0502020204030204" pitchFamily="34" charset="0"/>
                <a:cs typeface="Calibri" panose="020F0502020204030204" pitchFamily="34" charset="0"/>
              </a:rPr>
              <a:t>/path/</a:t>
            </a:r>
            <a:r>
              <a:rPr lang="en-US" sz="1400" dirty="0">
                <a:solidFill>
                  <a:srgbClr val="C00000"/>
                </a:solidFill>
                <a:effectLst/>
                <a:latin typeface="Comic Sans MS" panose="030F0702030302020204" pitchFamily="66" charset="0"/>
                <a:ea typeface="Calibri" panose="020F0502020204030204" pitchFamily="34" charset="0"/>
                <a:cs typeface="Calibri" panose="020F0502020204030204" pitchFamily="34" charset="0"/>
              </a:rPr>
              <a:t>selenium-server-4.39.0.jar </a:t>
            </a:r>
            <a:r>
              <a:rPr lang="en-US" sz="1400" i="1" dirty="0">
                <a:solidFill>
                  <a:srgbClr val="C00000"/>
                </a:solidFill>
                <a:effectLst/>
                <a:latin typeface="Comic Sans MS" panose="030F0702030302020204" pitchFamily="66" charset="0"/>
                <a:ea typeface="Calibri" panose="020F0502020204030204" pitchFamily="34" charset="0"/>
                <a:cs typeface="Calibri" panose="020F0502020204030204" pitchFamily="34" charset="0"/>
              </a:rPr>
              <a:t>standalone</a:t>
            </a: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marL="171450" lvl="0" indent="-171450">
              <a:lnSpc>
                <a:spcPct val="107000"/>
              </a:lnSpc>
              <a:spcAft>
                <a:spcPts val="800"/>
              </a:spcAft>
              <a:buFont typeface="Arial" panose="020B0604020202020204" pitchFamily="34" charset="0"/>
              <a:buChar char="•"/>
            </a:pPr>
            <a:r>
              <a:rPr lang="en-US" sz="1400" dirty="0">
                <a:effectLst/>
                <a:latin typeface="Comic Sans MS" panose="030F0702030302020204" pitchFamily="66" charset="0"/>
                <a:ea typeface="Calibri" panose="020F0502020204030204" pitchFamily="34" charset="0"/>
                <a:cs typeface="Calibri" panose="020F0502020204030204" pitchFamily="34" charset="0"/>
              </a:rPr>
              <a:t>URL to see sessions:  </a:t>
            </a:r>
            <a:r>
              <a:rPr lang="en-US" sz="1400" dirty="0">
                <a:solidFill>
                  <a:srgbClr val="C00000"/>
                </a:solidFill>
                <a:effectLst/>
                <a:latin typeface="Comic Sans MS" panose="030F0702030302020204" pitchFamily="66" charset="0"/>
                <a:ea typeface="Calibri" panose="020F0502020204030204" pitchFamily="34" charset="0"/>
                <a:cs typeface="Calibri" panose="020F0502020204030204" pitchFamily="34" charset="0"/>
              </a:rPr>
              <a:t>http://localhost:4444/  </a:t>
            </a: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a:lnSpc>
                <a:spcPct val="107000"/>
              </a:lnSpc>
              <a:spcAft>
                <a:spcPts val="800"/>
              </a:spcAft>
              <a:buNone/>
            </a:pPr>
            <a:r>
              <a:rPr lang="en-US" sz="1400" dirty="0">
                <a:effectLst/>
                <a:latin typeface="Comic Sans MS" panose="030F0702030302020204" pitchFamily="66" charset="0"/>
                <a:ea typeface="Calibri" panose="020F0502020204030204" pitchFamily="34" charset="0"/>
                <a:cs typeface="Calibri" panose="020F0502020204030204" pitchFamily="34" charset="0"/>
              </a:rPr>
              <a:t> </a:t>
            </a: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a:lnSpc>
                <a:spcPct val="107000"/>
              </a:lnSpc>
              <a:spcAft>
                <a:spcPts val="800"/>
              </a:spcAft>
              <a:buNone/>
            </a:pPr>
            <a:r>
              <a:rPr lang="en-US" sz="1400" b="1" u="sng" dirty="0">
                <a:effectLst/>
                <a:latin typeface="Comic Sans MS" panose="030F0702030302020204" pitchFamily="66" charset="0"/>
                <a:ea typeface="Calibri" panose="020F0502020204030204" pitchFamily="34" charset="0"/>
                <a:cs typeface="Calibri" panose="020F0502020204030204" pitchFamily="34" charset="0"/>
              </a:rPr>
              <a:t>Hub &amp; Node Setup (Multiple machines):</a:t>
            </a: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marL="171450" lvl="0" indent="-171450">
              <a:lnSpc>
                <a:spcPct val="107000"/>
              </a:lnSpc>
              <a:buFont typeface="Arial" panose="020B0604020202020204" pitchFamily="34" charset="0"/>
              <a:buChar char="•"/>
            </a:pPr>
            <a:r>
              <a:rPr lang="en-US" sz="1400" dirty="0">
                <a:effectLst/>
                <a:latin typeface="Comic Sans MS" panose="030F0702030302020204" pitchFamily="66" charset="0"/>
                <a:ea typeface="Calibri" panose="020F0502020204030204" pitchFamily="34" charset="0"/>
                <a:cs typeface="Calibri" panose="020F0502020204030204" pitchFamily="34" charset="0"/>
              </a:rPr>
              <a:t>Download </a:t>
            </a:r>
            <a:r>
              <a:rPr lang="en-US" sz="1400" dirty="0">
                <a:solidFill>
                  <a:srgbClr val="C00000"/>
                </a:solidFill>
                <a:effectLst/>
                <a:latin typeface="Comic Sans MS" panose="030F0702030302020204" pitchFamily="66" charset="0"/>
                <a:ea typeface="Calibri" panose="020F0502020204030204" pitchFamily="34" charset="0"/>
                <a:cs typeface="Calibri" panose="020F0502020204030204" pitchFamily="34" charset="0"/>
              </a:rPr>
              <a:t>selenium-server-4.39.0.jar </a:t>
            </a:r>
            <a:r>
              <a:rPr lang="en-US" sz="1400" dirty="0">
                <a:effectLst/>
                <a:latin typeface="Comic Sans MS" panose="030F0702030302020204" pitchFamily="66" charset="0"/>
                <a:ea typeface="Calibri" panose="020F0502020204030204" pitchFamily="34" charset="0"/>
                <a:cs typeface="Calibri" panose="020F0502020204030204" pitchFamily="34" charset="0"/>
              </a:rPr>
              <a:t>and place it somewhere in both (hub &amp; node) the machines.</a:t>
            </a: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marL="171450" lvl="0" indent="-171450">
              <a:lnSpc>
                <a:spcPct val="107000"/>
              </a:lnSpc>
              <a:buFont typeface="Arial" panose="020B0604020202020204" pitchFamily="34" charset="0"/>
              <a:buChar char="•"/>
            </a:pPr>
            <a:r>
              <a:rPr lang="en-US" sz="1400" dirty="0">
                <a:effectLst/>
                <a:latin typeface="Comic Sans MS" panose="030F0702030302020204" pitchFamily="66" charset="0"/>
                <a:ea typeface="Calibri" panose="020F0502020204030204" pitchFamily="34" charset="0"/>
                <a:cs typeface="Calibri" panose="020F0502020204030204" pitchFamily="34" charset="0"/>
              </a:rPr>
              <a:t>Run below command to make machine as hub</a:t>
            </a: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marL="1085850" indent="-171450">
              <a:lnSpc>
                <a:spcPct val="107000"/>
              </a:lnSpc>
              <a:buFont typeface="Arial" panose="020B0604020202020204" pitchFamily="34" charset="0"/>
              <a:buChar char="•"/>
            </a:pPr>
            <a:r>
              <a:rPr lang="en-US" sz="1400" dirty="0">
                <a:solidFill>
                  <a:srgbClr val="C00000"/>
                </a:solidFill>
                <a:effectLst/>
                <a:latin typeface="Comic Sans MS" panose="030F0702030302020204" pitchFamily="66" charset="0"/>
                <a:ea typeface="Calibri" panose="020F0502020204030204" pitchFamily="34" charset="0"/>
                <a:cs typeface="Calibri" panose="020F0502020204030204" pitchFamily="34" charset="0"/>
              </a:rPr>
              <a:t>java -jar selenium-server-4.39.0.jar hub</a:t>
            </a: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marL="171450" lvl="0" indent="-171450">
              <a:lnSpc>
                <a:spcPct val="107000"/>
              </a:lnSpc>
              <a:buFont typeface="Arial" panose="020B0604020202020204" pitchFamily="34" charset="0"/>
              <a:buChar char="•"/>
            </a:pPr>
            <a:r>
              <a:rPr lang="en-US" sz="1400" dirty="0">
                <a:effectLst/>
                <a:latin typeface="Comic Sans MS" panose="030F0702030302020204" pitchFamily="66" charset="0"/>
                <a:ea typeface="Calibri" panose="020F0502020204030204" pitchFamily="34" charset="0"/>
                <a:cs typeface="Calibri" panose="020F0502020204030204" pitchFamily="34" charset="0"/>
              </a:rPr>
              <a:t>Run below command to make machine as node</a:t>
            </a: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marL="1085850" indent="-171450">
              <a:lnSpc>
                <a:spcPct val="107000"/>
              </a:lnSpc>
              <a:buFont typeface="Arial" panose="020B0604020202020204" pitchFamily="34" charset="0"/>
              <a:buChar char="•"/>
            </a:pPr>
            <a:r>
              <a:rPr lang="en-US" sz="1400" dirty="0">
                <a:solidFill>
                  <a:srgbClr val="C00000"/>
                </a:solidFill>
                <a:effectLst/>
                <a:latin typeface="Comic Sans MS" panose="030F0702030302020204" pitchFamily="66" charset="0"/>
                <a:ea typeface="Calibri" panose="020F0502020204030204" pitchFamily="34" charset="0"/>
                <a:cs typeface="Calibri" panose="020F0502020204030204" pitchFamily="34" charset="0"/>
              </a:rPr>
              <a:t>java -jar selenium-server-4.39.0.jar node --hub </a:t>
            </a:r>
            <a:r>
              <a:rPr lang="en-US" sz="1400" u="sng" dirty="0">
                <a:solidFill>
                  <a:srgbClr val="0563C1"/>
                </a:solidFill>
                <a:effectLst/>
                <a:latin typeface="Comic Sans MS" panose="030F0702030302020204" pitchFamily="66" charset="0"/>
                <a:ea typeface="Calibri" panose="020F0502020204030204" pitchFamily="34" charset="0"/>
                <a:cs typeface="Calibri" panose="020F0502020204030204" pitchFamily="34" charset="0"/>
              </a:rPr>
              <a:t>http://&lt;hub-ip&gt;:4444</a:t>
            </a: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marL="914400">
              <a:lnSpc>
                <a:spcPct val="107000"/>
              </a:lnSpc>
            </a:pP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marL="1085850" indent="-171450">
              <a:lnSpc>
                <a:spcPct val="107000"/>
              </a:lnSpc>
              <a:buFont typeface="Arial" panose="020B0604020202020204" pitchFamily="34" charset="0"/>
              <a:buChar char="•"/>
            </a:pPr>
            <a:r>
              <a:rPr lang="en-US" sz="1400" u="sng" dirty="0">
                <a:effectLst/>
                <a:latin typeface="Comic Sans MS" panose="030F0702030302020204" pitchFamily="66" charset="0"/>
                <a:ea typeface="Calibri" panose="020F0502020204030204" pitchFamily="34" charset="0"/>
                <a:cs typeface="Calibri" panose="020F0502020204030204" pitchFamily="34" charset="0"/>
              </a:rPr>
              <a:t>Example: </a:t>
            </a: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marL="1085850" indent="-171450">
              <a:lnSpc>
                <a:spcPct val="107000"/>
              </a:lnSpc>
              <a:buFont typeface="Arial" panose="020B0604020202020204" pitchFamily="34" charset="0"/>
              <a:buChar char="•"/>
            </a:pPr>
            <a:r>
              <a:rPr lang="en-US" sz="1400" dirty="0">
                <a:effectLst/>
                <a:latin typeface="Comic Sans MS" panose="030F0702030302020204" pitchFamily="66" charset="0"/>
                <a:ea typeface="Calibri" panose="020F0502020204030204" pitchFamily="34" charset="0"/>
                <a:cs typeface="Calibri" panose="020F0502020204030204" pitchFamily="34" charset="0"/>
              </a:rPr>
              <a:t>java -jar ‘/path/selenium-server-4.39.0.jar' node –hub</a:t>
            </a:r>
            <a:r>
              <a:rPr lang="en-US" sz="1400" dirty="0">
                <a:latin typeface="Comic Sans MS" panose="030F0702030302020204" pitchFamily="66" charset="0"/>
                <a:ea typeface="Calibri" panose="020F0502020204030204" pitchFamily="34" charset="0"/>
                <a:cs typeface="Calibri" panose="020F0502020204030204" pitchFamily="34" charset="0"/>
              </a:rPr>
              <a:t> </a:t>
            </a:r>
            <a:r>
              <a:rPr lang="en-US" sz="1400" dirty="0">
                <a:effectLst/>
                <a:latin typeface="Comic Sans MS" panose="030F0702030302020204" pitchFamily="66" charset="0"/>
                <a:ea typeface="Calibri" panose="020F0502020204030204" pitchFamily="34" charset="0"/>
                <a:cs typeface="Calibri" panose="020F0502020204030204" pitchFamily="34" charset="0"/>
              </a:rPr>
              <a:t>http://&lt;hubip&gt;:4444 --selenium-manager true</a:t>
            </a: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marL="914400">
              <a:lnSpc>
                <a:spcPct val="107000"/>
              </a:lnSpc>
            </a:pP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a:p>
            <a:pPr marL="171450" lvl="0" indent="-171450">
              <a:lnSpc>
                <a:spcPct val="107000"/>
              </a:lnSpc>
              <a:spcAft>
                <a:spcPts val="800"/>
              </a:spcAft>
              <a:buFont typeface="Arial" panose="020B0604020202020204" pitchFamily="34" charset="0"/>
              <a:buChar char="•"/>
            </a:pPr>
            <a:r>
              <a:rPr lang="en-US" sz="1400" dirty="0">
                <a:effectLst/>
                <a:latin typeface="Comic Sans MS" panose="030F0702030302020204" pitchFamily="66" charset="0"/>
                <a:ea typeface="Calibri" panose="020F0502020204030204" pitchFamily="34" charset="0"/>
                <a:cs typeface="Calibri" panose="020F0502020204030204" pitchFamily="34" charset="0"/>
              </a:rPr>
              <a:t>URL to see sessions:  </a:t>
            </a:r>
            <a:r>
              <a:rPr lang="en-US" sz="1400" dirty="0">
                <a:solidFill>
                  <a:srgbClr val="C00000"/>
                </a:solidFill>
                <a:effectLst/>
                <a:latin typeface="Comic Sans MS" panose="030F0702030302020204" pitchFamily="66" charset="0"/>
                <a:ea typeface="Calibri" panose="020F0502020204030204" pitchFamily="34" charset="0"/>
                <a:cs typeface="Calibri" panose="020F0502020204030204" pitchFamily="34" charset="0"/>
              </a:rPr>
              <a:t>http://localhost:4444/  </a:t>
            </a:r>
            <a:endParaRPr lang="en-IN" sz="1400" dirty="0">
              <a:effectLst/>
              <a:latin typeface="Comic Sans MS" panose="030F0702030302020204" pitchFamily="66" charset="0"/>
              <a:ea typeface="Calibri" panose="020F0502020204030204" pitchFamily="34" charset="0"/>
              <a:cs typeface="Times New Roman" panose="02020603050405020304" pitchFamily="18" charset="0"/>
            </a:endParaRPr>
          </a:p>
        </p:txBody>
      </p:sp>
      <p:pic>
        <p:nvPicPr>
          <p:cNvPr id="9" name="Picture 8" descr="A screenshot of a computer screen&#10;&#10;AI-generated content may be incorrect.">
            <a:extLst>
              <a:ext uri="{FF2B5EF4-FFF2-40B4-BE49-F238E27FC236}">
                <a16:creationId xmlns:a16="http://schemas.microsoft.com/office/drawing/2014/main" id="{E5C9B3D1-632D-C973-3597-8F9E4CFF1DE5}"/>
              </a:ext>
            </a:extLst>
          </p:cNvPr>
          <p:cNvPicPr>
            <a:picLocks noChangeAspect="1"/>
          </p:cNvPicPr>
          <p:nvPr/>
        </p:nvPicPr>
        <p:blipFill>
          <a:blip r:embed="rId2"/>
          <a:stretch>
            <a:fillRect/>
          </a:stretch>
        </p:blipFill>
        <p:spPr>
          <a:xfrm>
            <a:off x="6662057" y="1015876"/>
            <a:ext cx="4900023" cy="4508239"/>
          </a:xfrm>
          <a:prstGeom prst="rect">
            <a:avLst/>
          </a:prstGeom>
        </p:spPr>
      </p:pic>
    </p:spTree>
    <p:extLst>
      <p:ext uri="{BB962C8B-B14F-4D97-AF65-F5344CB8AC3E}">
        <p14:creationId xmlns:p14="http://schemas.microsoft.com/office/powerpoint/2010/main" val="2584609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0B017-FEC6-327C-9BA6-4211FA6A870F}"/>
              </a:ext>
            </a:extLst>
          </p:cNvPr>
          <p:cNvSpPr>
            <a:spLocks noGrp="1"/>
          </p:cNvSpPr>
          <p:nvPr>
            <p:ph type="title"/>
          </p:nvPr>
        </p:nvSpPr>
        <p:spPr/>
        <p:txBody>
          <a:bodyPr/>
          <a:lstStyle/>
          <a:p>
            <a:r>
              <a:rPr lang="en-IN" dirty="0"/>
              <a:t>DOCKER</a:t>
            </a:r>
          </a:p>
        </p:txBody>
      </p:sp>
      <p:sp>
        <p:nvSpPr>
          <p:cNvPr id="3" name="Content Placeholder 2">
            <a:extLst>
              <a:ext uri="{FF2B5EF4-FFF2-40B4-BE49-F238E27FC236}">
                <a16:creationId xmlns:a16="http://schemas.microsoft.com/office/drawing/2014/main" id="{E10BCEB3-31A6-EDA7-C7B0-0F5213C9227F}"/>
              </a:ext>
            </a:extLst>
          </p:cNvPr>
          <p:cNvSpPr>
            <a:spLocks noGrp="1"/>
          </p:cNvSpPr>
          <p:nvPr>
            <p:ph idx="1"/>
          </p:nvPr>
        </p:nvSpPr>
        <p:spPr>
          <a:xfrm>
            <a:off x="477520" y="1305559"/>
            <a:ext cx="10861040" cy="1245667"/>
          </a:xfrm>
        </p:spPr>
        <p:txBody>
          <a:bodyPr/>
          <a:lstStyle/>
          <a:p>
            <a:pPr>
              <a:lnSpc>
                <a:spcPct val="150000"/>
              </a:lnSpc>
            </a:pPr>
            <a:r>
              <a:rPr lang="en-US" sz="1700" dirty="0">
                <a:latin typeface="Comic Sans MS" panose="030F0702030302020204" pitchFamily="66" charset="0"/>
              </a:rPr>
              <a:t>Docker is a platform that makes it easy to build, package, and run applications inside containers.</a:t>
            </a:r>
          </a:p>
          <a:p>
            <a:pPr>
              <a:lnSpc>
                <a:spcPct val="150000"/>
              </a:lnSpc>
            </a:pPr>
            <a:r>
              <a:rPr lang="en-US" sz="1700" dirty="0">
                <a:latin typeface="Comic Sans MS" panose="030F0702030302020204" pitchFamily="66" charset="0"/>
              </a:rPr>
              <a:t>Containers are lightweight, portable environments that isolate applications and their dependencies, ensuring they run consistently across different systems</a:t>
            </a:r>
            <a:endParaRPr lang="en-IN" sz="1700" dirty="0">
              <a:latin typeface="Comic Sans MS" panose="030F0702030302020204" pitchFamily="66" charset="0"/>
            </a:endParaRPr>
          </a:p>
        </p:txBody>
      </p:sp>
      <p:sp>
        <p:nvSpPr>
          <p:cNvPr id="4" name="Footer Placeholder 3">
            <a:extLst>
              <a:ext uri="{FF2B5EF4-FFF2-40B4-BE49-F238E27FC236}">
                <a16:creationId xmlns:a16="http://schemas.microsoft.com/office/drawing/2014/main" id="{084E5842-FC2F-35D8-BCB2-B34AFE0C712B}"/>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08BF635A-CBDD-CE7E-CF6D-2C53B58F99EA}"/>
              </a:ext>
            </a:extLst>
          </p:cNvPr>
          <p:cNvSpPr>
            <a:spLocks noGrp="1"/>
          </p:cNvSpPr>
          <p:nvPr>
            <p:ph type="sldNum" sz="quarter" idx="12"/>
          </p:nvPr>
        </p:nvSpPr>
        <p:spPr/>
        <p:txBody>
          <a:bodyPr/>
          <a:lstStyle/>
          <a:p>
            <a:fld id="{38826FC0-333C-E549-9FA3-0EE43DF298A3}" type="slidenum">
              <a:rPr lang="en-US" smtClean="0"/>
              <a:pPr/>
              <a:t>6</a:t>
            </a:fld>
            <a:endParaRPr lang="en-US" dirty="0"/>
          </a:p>
        </p:txBody>
      </p:sp>
      <p:sp>
        <p:nvSpPr>
          <p:cNvPr id="9" name="TextBox 8">
            <a:extLst>
              <a:ext uri="{FF2B5EF4-FFF2-40B4-BE49-F238E27FC236}">
                <a16:creationId xmlns:a16="http://schemas.microsoft.com/office/drawing/2014/main" id="{7E58CE49-1E3B-026E-86A0-A6B347CBE291}"/>
              </a:ext>
            </a:extLst>
          </p:cNvPr>
          <p:cNvSpPr txBox="1"/>
          <p:nvPr/>
        </p:nvSpPr>
        <p:spPr>
          <a:xfrm>
            <a:off x="335280" y="2572612"/>
            <a:ext cx="10861040" cy="358066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700" b="0" i="0" dirty="0">
                <a:solidFill>
                  <a:srgbClr val="001D35"/>
                </a:solidFill>
                <a:effectLst/>
                <a:latin typeface="Comic Sans MS" panose="030F0702030302020204" pitchFamily="66" charset="0"/>
              </a:rPr>
              <a:t>Docker is the most widely used platform for building, managing, and running containers. It provides tools and a platform to manage the entire lifecycle of containers, including: </a:t>
            </a:r>
          </a:p>
          <a:p>
            <a:pPr>
              <a:lnSpc>
                <a:spcPct val="150000"/>
              </a:lnSpc>
            </a:pPr>
            <a:endParaRPr lang="en-US" sz="1700" b="0" i="0" dirty="0">
              <a:solidFill>
                <a:srgbClr val="001D35"/>
              </a:solidFill>
              <a:effectLst/>
              <a:latin typeface="Comic Sans MS" panose="030F0702030302020204" pitchFamily="66" charset="0"/>
            </a:endParaRPr>
          </a:p>
          <a:p>
            <a:pPr>
              <a:lnSpc>
                <a:spcPct val="150000"/>
              </a:lnSpc>
            </a:pPr>
            <a:r>
              <a:rPr lang="en-US" sz="1700" b="1" dirty="0">
                <a:latin typeface="Comic Sans MS" panose="030F0702030302020204" pitchFamily="66" charset="0"/>
              </a:rPr>
              <a:t>Building Images</a:t>
            </a:r>
            <a:r>
              <a:rPr lang="en-US" sz="1700" dirty="0">
                <a:latin typeface="Comic Sans MS" panose="030F0702030302020204" pitchFamily="66" charset="0"/>
              </a:rPr>
              <a:t>: Docker uses </a:t>
            </a:r>
            <a:r>
              <a:rPr lang="en-US" sz="1700" b="1" dirty="0" err="1">
                <a:latin typeface="Comic Sans MS" panose="030F0702030302020204" pitchFamily="66" charset="0"/>
              </a:rPr>
              <a:t>Dockerfiles</a:t>
            </a:r>
            <a:r>
              <a:rPr lang="en-US" sz="1700" dirty="0">
                <a:latin typeface="Comic Sans MS" panose="030F0702030302020204" pitchFamily="66" charset="0"/>
              </a:rPr>
              <a:t>, which are text-based instructions, to create Docker Images. An image is a read-only template containing the blueprint for a container.</a:t>
            </a:r>
          </a:p>
          <a:p>
            <a:pPr>
              <a:lnSpc>
                <a:spcPct val="150000"/>
              </a:lnSpc>
            </a:pPr>
            <a:r>
              <a:rPr lang="en-US" sz="1700" b="1" dirty="0">
                <a:latin typeface="Comic Sans MS" panose="030F0702030302020204" pitchFamily="66" charset="0"/>
              </a:rPr>
              <a:t>Running Containers</a:t>
            </a:r>
            <a:r>
              <a:rPr lang="en-US" sz="1700" dirty="0">
                <a:latin typeface="Comic Sans MS" panose="030F0702030302020204" pitchFamily="66" charset="0"/>
              </a:rPr>
              <a:t>: Docker Engine is the runtime that executes Docker Images, turning them into running containers.</a:t>
            </a:r>
          </a:p>
          <a:p>
            <a:pPr>
              <a:lnSpc>
                <a:spcPct val="150000"/>
              </a:lnSpc>
            </a:pPr>
            <a:r>
              <a:rPr lang="en-US" sz="1700" b="1" dirty="0">
                <a:latin typeface="Comic Sans MS" panose="030F0702030302020204" pitchFamily="66" charset="0"/>
              </a:rPr>
              <a:t>Managing Containers</a:t>
            </a:r>
            <a:r>
              <a:rPr lang="en-US" sz="1700" dirty="0">
                <a:latin typeface="Comic Sans MS" panose="030F0702030302020204" pitchFamily="66" charset="0"/>
              </a:rPr>
              <a:t>: Docker provides commands to start, stop, pause, resume, and delete containers.</a:t>
            </a:r>
          </a:p>
          <a:p>
            <a:pPr>
              <a:lnSpc>
                <a:spcPct val="150000"/>
              </a:lnSpc>
            </a:pPr>
            <a:r>
              <a:rPr lang="en-US" sz="1700" b="1" dirty="0">
                <a:latin typeface="Comic Sans MS" panose="030F0702030302020204" pitchFamily="66" charset="0"/>
              </a:rPr>
              <a:t>Sharing Images: </a:t>
            </a:r>
            <a:r>
              <a:rPr lang="en-US" sz="1700" dirty="0">
                <a:latin typeface="Comic Sans MS" panose="030F0702030302020204" pitchFamily="66" charset="0"/>
              </a:rPr>
              <a:t>Docker Hub is a cloud-based registry service for sharing and managing Docker images</a:t>
            </a:r>
            <a:endParaRPr lang="en-IN" sz="1700" dirty="0">
              <a:latin typeface="Comic Sans MS" panose="030F0702030302020204" pitchFamily="66" charset="0"/>
            </a:endParaRPr>
          </a:p>
        </p:txBody>
      </p:sp>
    </p:spTree>
    <p:extLst>
      <p:ext uri="{BB962C8B-B14F-4D97-AF65-F5344CB8AC3E}">
        <p14:creationId xmlns:p14="http://schemas.microsoft.com/office/powerpoint/2010/main" val="2215414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429D9-67C0-3D1B-FF0C-A5B50C22B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1CF0AE-DA4F-7D54-2BAA-2B30738B4B6E}"/>
              </a:ext>
            </a:extLst>
          </p:cNvPr>
          <p:cNvSpPr>
            <a:spLocks noGrp="1"/>
          </p:cNvSpPr>
          <p:nvPr>
            <p:ph type="title"/>
          </p:nvPr>
        </p:nvSpPr>
        <p:spPr/>
        <p:txBody>
          <a:bodyPr/>
          <a:lstStyle/>
          <a:p>
            <a:r>
              <a:rPr lang="en-IN" dirty="0"/>
              <a:t>Container</a:t>
            </a:r>
          </a:p>
        </p:txBody>
      </p:sp>
      <p:sp>
        <p:nvSpPr>
          <p:cNvPr id="4" name="Footer Placeholder 3">
            <a:extLst>
              <a:ext uri="{FF2B5EF4-FFF2-40B4-BE49-F238E27FC236}">
                <a16:creationId xmlns:a16="http://schemas.microsoft.com/office/drawing/2014/main" id="{1E5C7F14-7137-9DE8-D162-69540B696219}"/>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89698917-65BA-AA38-D5BD-4EAC310F0509}"/>
              </a:ext>
            </a:extLst>
          </p:cNvPr>
          <p:cNvSpPr>
            <a:spLocks noGrp="1"/>
          </p:cNvSpPr>
          <p:nvPr>
            <p:ph type="sldNum" sz="quarter" idx="12"/>
          </p:nvPr>
        </p:nvSpPr>
        <p:spPr/>
        <p:txBody>
          <a:bodyPr/>
          <a:lstStyle/>
          <a:p>
            <a:fld id="{38826FC0-333C-E549-9FA3-0EE43DF298A3}" type="slidenum">
              <a:rPr lang="en-US" smtClean="0"/>
              <a:pPr/>
              <a:t>7</a:t>
            </a:fld>
            <a:endParaRPr lang="en-US" dirty="0"/>
          </a:p>
        </p:txBody>
      </p:sp>
      <p:sp>
        <p:nvSpPr>
          <p:cNvPr id="7" name="TextBox 6">
            <a:extLst>
              <a:ext uri="{FF2B5EF4-FFF2-40B4-BE49-F238E27FC236}">
                <a16:creationId xmlns:a16="http://schemas.microsoft.com/office/drawing/2014/main" id="{57873306-C127-43E3-C665-70F3C8026BEE}"/>
              </a:ext>
            </a:extLst>
          </p:cNvPr>
          <p:cNvSpPr txBox="1"/>
          <p:nvPr/>
        </p:nvSpPr>
        <p:spPr>
          <a:xfrm>
            <a:off x="640080" y="1079375"/>
            <a:ext cx="10119360" cy="279583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700" b="0" i="0" dirty="0">
                <a:solidFill>
                  <a:srgbClr val="001D35"/>
                </a:solidFill>
                <a:effectLst/>
                <a:latin typeface="Comic Sans MS" panose="030F0702030302020204" pitchFamily="66" charset="0"/>
              </a:rPr>
              <a:t>Containers are standardized, executable units of software that package up code and all its dependencies, including runtime, libraries, and system tools. </a:t>
            </a:r>
          </a:p>
          <a:p>
            <a:pPr marL="285750" indent="-285750">
              <a:lnSpc>
                <a:spcPct val="150000"/>
              </a:lnSpc>
              <a:buFont typeface="Arial" panose="020B0604020202020204" pitchFamily="34" charset="0"/>
              <a:buChar char="•"/>
            </a:pPr>
            <a:r>
              <a:rPr lang="en-US" sz="1700" b="0" i="0" dirty="0">
                <a:solidFill>
                  <a:srgbClr val="001D35"/>
                </a:solidFill>
                <a:effectLst/>
                <a:latin typeface="Comic Sans MS" panose="030F0702030302020204" pitchFamily="66" charset="0"/>
              </a:rPr>
              <a:t>This ensures that the application runs quickly and reliably from one computing environment to another, regardless of differences in infrastructure.</a:t>
            </a:r>
          </a:p>
          <a:p>
            <a:pPr marL="285750" indent="-285750">
              <a:lnSpc>
                <a:spcPct val="150000"/>
              </a:lnSpc>
              <a:buFont typeface="Arial" panose="020B0604020202020204" pitchFamily="34" charset="0"/>
              <a:buChar char="•"/>
            </a:pPr>
            <a:r>
              <a:rPr lang="en-US" sz="1700" b="0" i="0" dirty="0">
                <a:solidFill>
                  <a:srgbClr val="001D35"/>
                </a:solidFill>
                <a:effectLst/>
                <a:latin typeface="Comic Sans MS" panose="030F0702030302020204" pitchFamily="66" charset="0"/>
              </a:rPr>
              <a:t>Containers are lightweight and isolated, sharing the host system's kernel but providing a separate, self-contained environment for the application.</a:t>
            </a:r>
          </a:p>
          <a:p>
            <a:pPr marL="285750" indent="-285750">
              <a:lnSpc>
                <a:spcPct val="150000"/>
              </a:lnSpc>
              <a:buFont typeface="Arial" panose="020B0604020202020204" pitchFamily="34" charset="0"/>
              <a:buChar char="•"/>
            </a:pPr>
            <a:r>
              <a:rPr lang="en-US" sz="1700" dirty="0">
                <a:latin typeface="Comic Sans MS" panose="030F0702030302020204" pitchFamily="66" charset="0"/>
              </a:rPr>
              <a:t>A container is a running instance of a Docker Image.</a:t>
            </a:r>
            <a:endParaRPr lang="en-IN" sz="1700" dirty="0">
              <a:latin typeface="Comic Sans MS" panose="030F0702030302020204" pitchFamily="66" charset="0"/>
            </a:endParaRPr>
          </a:p>
        </p:txBody>
      </p:sp>
    </p:spTree>
    <p:extLst>
      <p:ext uri="{BB962C8B-B14F-4D97-AF65-F5344CB8AC3E}">
        <p14:creationId xmlns:p14="http://schemas.microsoft.com/office/powerpoint/2010/main" val="1275877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098E9-128F-CB5D-F51B-8BB117D462C5}"/>
              </a:ext>
            </a:extLst>
          </p:cNvPr>
          <p:cNvSpPr>
            <a:spLocks noGrp="1"/>
          </p:cNvSpPr>
          <p:nvPr>
            <p:ph type="title"/>
          </p:nvPr>
        </p:nvSpPr>
        <p:spPr/>
        <p:txBody>
          <a:bodyPr/>
          <a:lstStyle/>
          <a:p>
            <a:r>
              <a:rPr lang="en-IN" dirty="0"/>
              <a:t>DOCKER</a:t>
            </a:r>
          </a:p>
        </p:txBody>
      </p:sp>
      <p:sp>
        <p:nvSpPr>
          <p:cNvPr id="4" name="Footer Placeholder 3">
            <a:extLst>
              <a:ext uri="{FF2B5EF4-FFF2-40B4-BE49-F238E27FC236}">
                <a16:creationId xmlns:a16="http://schemas.microsoft.com/office/drawing/2014/main" id="{AB146BC4-9E23-AD47-AC09-0DBDF1C55980}"/>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4FAB7B32-DF35-FC58-FB80-82F444169DE9}"/>
              </a:ext>
            </a:extLst>
          </p:cNvPr>
          <p:cNvSpPr>
            <a:spLocks noGrp="1"/>
          </p:cNvSpPr>
          <p:nvPr>
            <p:ph type="sldNum" sz="quarter" idx="12"/>
          </p:nvPr>
        </p:nvSpPr>
        <p:spPr/>
        <p:txBody>
          <a:bodyPr/>
          <a:lstStyle/>
          <a:p>
            <a:fld id="{38826FC0-333C-E549-9FA3-0EE43DF298A3}" type="slidenum">
              <a:rPr lang="en-US" smtClean="0"/>
              <a:pPr/>
              <a:t>8</a:t>
            </a:fld>
            <a:endParaRPr lang="en-US" dirty="0"/>
          </a:p>
        </p:txBody>
      </p:sp>
      <p:sp>
        <p:nvSpPr>
          <p:cNvPr id="7" name="TextBox 6">
            <a:extLst>
              <a:ext uri="{FF2B5EF4-FFF2-40B4-BE49-F238E27FC236}">
                <a16:creationId xmlns:a16="http://schemas.microsoft.com/office/drawing/2014/main" id="{CBE1BB77-E3CC-FE3A-D546-78B9F74A6949}"/>
              </a:ext>
            </a:extLst>
          </p:cNvPr>
          <p:cNvSpPr txBox="1"/>
          <p:nvPr/>
        </p:nvSpPr>
        <p:spPr>
          <a:xfrm>
            <a:off x="375920" y="1029727"/>
            <a:ext cx="5476240" cy="892552"/>
          </a:xfrm>
          <a:prstGeom prst="rect">
            <a:avLst/>
          </a:prstGeom>
          <a:solidFill>
            <a:srgbClr val="CCCCDB"/>
          </a:solidFill>
        </p:spPr>
        <p:txBody>
          <a:bodyPr wrap="square">
            <a:spAutoFit/>
          </a:bodyPr>
          <a:lstStyle/>
          <a:p>
            <a:r>
              <a:rPr lang="en-US" sz="1300" dirty="0"/>
              <a:t>Step 1: Download &amp; Install Docker https://www.docker.com/products/docker-desktop/ </a:t>
            </a:r>
          </a:p>
          <a:p>
            <a:endParaRPr lang="en-US" sz="1300" dirty="0"/>
          </a:p>
          <a:p>
            <a:r>
              <a:rPr lang="en-US" sz="1300" dirty="0"/>
              <a:t>Step 2: Verify Installation of Docker</a:t>
            </a:r>
            <a:endParaRPr lang="en-IN" sz="1300" dirty="0"/>
          </a:p>
        </p:txBody>
      </p:sp>
      <p:pic>
        <p:nvPicPr>
          <p:cNvPr id="11" name="Picture 10" descr="A black rectangular object with white border&#10;&#10;AI-generated content may be incorrect.">
            <a:extLst>
              <a:ext uri="{FF2B5EF4-FFF2-40B4-BE49-F238E27FC236}">
                <a16:creationId xmlns:a16="http://schemas.microsoft.com/office/drawing/2014/main" id="{0D8F11EF-581F-6E3E-4349-7F9A1F4BA479}"/>
              </a:ext>
            </a:extLst>
          </p:cNvPr>
          <p:cNvPicPr>
            <a:picLocks noChangeAspect="1"/>
          </p:cNvPicPr>
          <p:nvPr/>
        </p:nvPicPr>
        <p:blipFill>
          <a:blip r:embed="rId2"/>
          <a:stretch>
            <a:fillRect/>
          </a:stretch>
        </p:blipFill>
        <p:spPr>
          <a:xfrm>
            <a:off x="487680" y="1949174"/>
            <a:ext cx="4907280" cy="736638"/>
          </a:xfrm>
          <a:prstGeom prst="rect">
            <a:avLst/>
          </a:prstGeom>
        </p:spPr>
      </p:pic>
      <p:sp>
        <p:nvSpPr>
          <p:cNvPr id="13" name="TextBox 12">
            <a:extLst>
              <a:ext uri="{FF2B5EF4-FFF2-40B4-BE49-F238E27FC236}">
                <a16:creationId xmlns:a16="http://schemas.microsoft.com/office/drawing/2014/main" id="{0FC63839-4381-6A2E-0A69-5CA4ACD98F72}"/>
              </a:ext>
            </a:extLst>
          </p:cNvPr>
          <p:cNvSpPr txBox="1"/>
          <p:nvPr/>
        </p:nvSpPr>
        <p:spPr>
          <a:xfrm>
            <a:off x="457200" y="2888189"/>
            <a:ext cx="5151120" cy="2862322"/>
          </a:xfrm>
          <a:prstGeom prst="rect">
            <a:avLst/>
          </a:prstGeom>
          <a:solidFill>
            <a:srgbClr val="D7E5F4"/>
          </a:solidFill>
        </p:spPr>
        <p:txBody>
          <a:bodyPr wrap="square">
            <a:spAutoFit/>
          </a:bodyPr>
          <a:lstStyle/>
          <a:p>
            <a:r>
              <a:rPr lang="en-IN" sz="1200" b="1" dirty="0"/>
              <a:t>Basic Commands </a:t>
            </a:r>
          </a:p>
          <a:p>
            <a:endParaRPr lang="en-IN" sz="1200" b="1" dirty="0"/>
          </a:p>
          <a:p>
            <a:r>
              <a:rPr lang="en-IN" sz="1200" b="1" dirty="0"/>
              <a:t>docker version </a:t>
            </a:r>
            <a:r>
              <a:rPr lang="en-IN" sz="1200" dirty="0"/>
              <a:t>- Displays the Docker version installed on the system. </a:t>
            </a:r>
          </a:p>
          <a:p>
            <a:endParaRPr lang="en-IN" sz="1200" dirty="0"/>
          </a:p>
          <a:p>
            <a:r>
              <a:rPr lang="en-IN" sz="1200" b="1" dirty="0"/>
              <a:t>docker -v </a:t>
            </a:r>
            <a:r>
              <a:rPr lang="en-IN" sz="1200" dirty="0"/>
              <a:t>- Short form of docker version. It shows the Docker version.</a:t>
            </a:r>
          </a:p>
          <a:p>
            <a:endParaRPr lang="en-IN" sz="1200" dirty="0"/>
          </a:p>
          <a:p>
            <a:r>
              <a:rPr lang="en-IN" sz="1200" b="1" dirty="0"/>
              <a:t>docker info </a:t>
            </a:r>
            <a:r>
              <a:rPr lang="en-IN" sz="1200" dirty="0"/>
              <a:t>- Provides detailed information about the Docker installation. </a:t>
            </a:r>
          </a:p>
          <a:p>
            <a:endParaRPr lang="en-IN" sz="1200" dirty="0"/>
          </a:p>
          <a:p>
            <a:r>
              <a:rPr lang="en-IN" sz="1200" b="1" dirty="0"/>
              <a:t>docker --help </a:t>
            </a:r>
            <a:r>
              <a:rPr lang="en-IN" sz="1200" dirty="0"/>
              <a:t>- Displays general help information.</a:t>
            </a:r>
          </a:p>
          <a:p>
            <a:r>
              <a:rPr lang="en-IN" sz="1200" dirty="0"/>
              <a:t>Example: To get information about specific commands:</a:t>
            </a:r>
          </a:p>
          <a:p>
            <a:r>
              <a:rPr lang="en-IN" sz="1200" dirty="0"/>
              <a:t>docker images --help: Details about managing images.</a:t>
            </a:r>
          </a:p>
          <a:p>
            <a:r>
              <a:rPr lang="en-IN" sz="1200" dirty="0"/>
              <a:t>docker run --help: Details about running containers. </a:t>
            </a:r>
          </a:p>
          <a:p>
            <a:endParaRPr lang="en-IN" sz="1200" dirty="0"/>
          </a:p>
          <a:p>
            <a:r>
              <a:rPr lang="en-IN" sz="1200" b="1" dirty="0"/>
              <a:t>docker login </a:t>
            </a:r>
            <a:r>
              <a:rPr lang="en-IN" sz="1200" dirty="0"/>
              <a:t>- Logs into a Docker registry, such as Docker Hub. Used for push or pull docker images from Docker Hub</a:t>
            </a:r>
          </a:p>
        </p:txBody>
      </p:sp>
      <p:sp>
        <p:nvSpPr>
          <p:cNvPr id="15" name="TextBox 14">
            <a:extLst>
              <a:ext uri="{FF2B5EF4-FFF2-40B4-BE49-F238E27FC236}">
                <a16:creationId xmlns:a16="http://schemas.microsoft.com/office/drawing/2014/main" id="{88161732-A05A-61E0-6529-AA734C6BF802}"/>
              </a:ext>
            </a:extLst>
          </p:cNvPr>
          <p:cNvSpPr txBox="1"/>
          <p:nvPr/>
        </p:nvSpPr>
        <p:spPr>
          <a:xfrm>
            <a:off x="5928360" y="1029727"/>
            <a:ext cx="5679440" cy="2308324"/>
          </a:xfrm>
          <a:prstGeom prst="rect">
            <a:avLst/>
          </a:prstGeom>
          <a:solidFill>
            <a:srgbClr val="D7E5F4"/>
          </a:solidFill>
        </p:spPr>
        <p:txBody>
          <a:bodyPr wrap="square">
            <a:spAutoFit/>
          </a:bodyPr>
          <a:lstStyle/>
          <a:p>
            <a:r>
              <a:rPr lang="en-IN" sz="1200" b="1" dirty="0"/>
              <a:t>Images Commands </a:t>
            </a:r>
          </a:p>
          <a:p>
            <a:endParaRPr lang="en-IN" sz="1200" b="1" dirty="0"/>
          </a:p>
          <a:p>
            <a:r>
              <a:rPr lang="en-IN" sz="1200" dirty="0"/>
              <a:t>docker images - Lists all the Docker images present on the machine. </a:t>
            </a:r>
          </a:p>
          <a:p>
            <a:endParaRPr lang="en-IN" sz="1200" dirty="0"/>
          </a:p>
          <a:p>
            <a:r>
              <a:rPr lang="en-IN" sz="1200" b="1" dirty="0"/>
              <a:t>docker pull </a:t>
            </a:r>
            <a:r>
              <a:rPr lang="en-IN" sz="1200" dirty="0"/>
              <a:t>- Pulls an image from a Docker registry. You can find Docker images here: https://hub.docker.com/search?q=&amp;type=image • Example: docker pull ubuntu </a:t>
            </a:r>
          </a:p>
          <a:p>
            <a:endParaRPr lang="en-IN" sz="1200" dirty="0"/>
          </a:p>
          <a:p>
            <a:r>
              <a:rPr lang="en-IN" sz="1200" b="1" dirty="0"/>
              <a:t>docker </a:t>
            </a:r>
            <a:r>
              <a:rPr lang="en-IN" sz="1200" b="1" dirty="0" err="1"/>
              <a:t>rmi</a:t>
            </a:r>
            <a:r>
              <a:rPr lang="en-IN" sz="1200" b="1" dirty="0"/>
              <a:t> </a:t>
            </a:r>
            <a:r>
              <a:rPr lang="en-IN" sz="1200" dirty="0"/>
              <a:t>- Removes Docker images.</a:t>
            </a:r>
          </a:p>
          <a:p>
            <a:r>
              <a:rPr lang="en-IN" sz="1200" dirty="0"/>
              <a:t>	</a:t>
            </a:r>
            <a:r>
              <a:rPr lang="en-IN" sz="1200" b="1" dirty="0"/>
              <a:t>docker images -q</a:t>
            </a:r>
            <a:r>
              <a:rPr lang="en-IN" sz="1200" dirty="0"/>
              <a:t>: Lists image IDs</a:t>
            </a:r>
          </a:p>
          <a:p>
            <a:r>
              <a:rPr lang="en-IN" sz="1200" dirty="0"/>
              <a:t>	</a:t>
            </a:r>
            <a:r>
              <a:rPr lang="en-IN" sz="1200" b="1" dirty="0"/>
              <a:t>docker </a:t>
            </a:r>
            <a:r>
              <a:rPr lang="en-IN" sz="1200" b="1" dirty="0" err="1"/>
              <a:t>rmi</a:t>
            </a:r>
            <a:r>
              <a:rPr lang="en-IN" sz="1200" b="1" dirty="0"/>
              <a:t> : </a:t>
            </a:r>
            <a:r>
              <a:rPr lang="en-IN" sz="1200" dirty="0"/>
              <a:t>Deletes the specified image.</a:t>
            </a:r>
          </a:p>
          <a:p>
            <a:r>
              <a:rPr lang="en-IN" sz="1200" dirty="0"/>
              <a:t>	After deletion, confirm with docker images</a:t>
            </a:r>
          </a:p>
        </p:txBody>
      </p:sp>
      <p:sp>
        <p:nvSpPr>
          <p:cNvPr id="17" name="TextBox 16">
            <a:extLst>
              <a:ext uri="{FF2B5EF4-FFF2-40B4-BE49-F238E27FC236}">
                <a16:creationId xmlns:a16="http://schemas.microsoft.com/office/drawing/2014/main" id="{98972CAE-67D9-C608-3066-8BA46C15E650}"/>
              </a:ext>
            </a:extLst>
          </p:cNvPr>
          <p:cNvSpPr txBox="1"/>
          <p:nvPr/>
        </p:nvSpPr>
        <p:spPr>
          <a:xfrm>
            <a:off x="5928360" y="3450670"/>
            <a:ext cx="5679440" cy="2862322"/>
          </a:xfrm>
          <a:prstGeom prst="rect">
            <a:avLst/>
          </a:prstGeom>
          <a:solidFill>
            <a:srgbClr val="D3E5F5"/>
          </a:solidFill>
        </p:spPr>
        <p:txBody>
          <a:bodyPr wrap="square">
            <a:spAutoFit/>
          </a:bodyPr>
          <a:lstStyle/>
          <a:p>
            <a:r>
              <a:rPr lang="en-IN" sz="1200" b="1" dirty="0"/>
              <a:t>Container Commands </a:t>
            </a:r>
          </a:p>
          <a:p>
            <a:pPr marL="171450" indent="-171450">
              <a:buFont typeface="Arial" panose="020B0604020202020204" pitchFamily="34" charset="0"/>
              <a:buChar char="•"/>
            </a:pPr>
            <a:r>
              <a:rPr lang="en-IN" sz="1200" b="1" dirty="0"/>
              <a:t>docker </a:t>
            </a:r>
            <a:r>
              <a:rPr lang="en-IN" sz="1200" b="1" dirty="0" err="1"/>
              <a:t>ps</a:t>
            </a:r>
            <a:r>
              <a:rPr lang="en-IN" sz="1200" b="1" dirty="0"/>
              <a:t> &amp; docker run </a:t>
            </a:r>
          </a:p>
          <a:p>
            <a:r>
              <a:rPr lang="en-IN" sz="1200" dirty="0"/>
              <a:t>	</a:t>
            </a:r>
            <a:r>
              <a:rPr lang="en-IN" sz="1200" b="1" dirty="0"/>
              <a:t>docker </a:t>
            </a:r>
            <a:r>
              <a:rPr lang="en-IN" sz="1200" b="1" dirty="0" err="1"/>
              <a:t>ps</a:t>
            </a:r>
            <a:r>
              <a:rPr lang="en-IN" sz="1200" dirty="0"/>
              <a:t>: Lists running containers.</a:t>
            </a:r>
          </a:p>
          <a:p>
            <a:r>
              <a:rPr lang="en-IN" sz="1200" dirty="0"/>
              <a:t>	</a:t>
            </a:r>
            <a:r>
              <a:rPr lang="en-IN" sz="1200" b="1" dirty="0"/>
              <a:t>docker run </a:t>
            </a:r>
            <a:r>
              <a:rPr lang="en-IN" sz="1200" dirty="0"/>
              <a:t>: Creates a container from a specified image. If local image is not available then it will pull from Docker Hub automatically. • Example: docker run ubuntu. • Example: docker run -it ubuntu //For interaction </a:t>
            </a:r>
          </a:p>
          <a:p>
            <a:endParaRPr lang="en-IN" sz="1200" dirty="0"/>
          </a:p>
          <a:p>
            <a:pPr marL="171450" indent="-171450">
              <a:buFont typeface="Arial" panose="020B0604020202020204" pitchFamily="34" charset="0"/>
              <a:buChar char="•"/>
            </a:pPr>
            <a:r>
              <a:rPr lang="en-IN" sz="1200" b="1" dirty="0"/>
              <a:t>docker start </a:t>
            </a:r>
            <a:r>
              <a:rPr lang="en-IN" sz="1200" dirty="0"/>
              <a:t>- Starts a stopped container. Example: docker start &lt;container id&gt;</a:t>
            </a:r>
          </a:p>
          <a:p>
            <a:endParaRPr lang="en-IN" sz="1200" dirty="0"/>
          </a:p>
          <a:p>
            <a:pPr marL="171450" indent="-171450">
              <a:buFont typeface="Arial" panose="020B0604020202020204" pitchFamily="34" charset="0"/>
              <a:buChar char="•"/>
            </a:pPr>
            <a:r>
              <a:rPr lang="en-IN" sz="1200" b="1" dirty="0"/>
              <a:t>docker stop </a:t>
            </a:r>
            <a:r>
              <a:rPr lang="en-IN" sz="1200" dirty="0"/>
              <a:t>- Stops a running container. Example: docker stop &lt;container id&gt;</a:t>
            </a:r>
          </a:p>
          <a:p>
            <a:pPr marL="171450" indent="-171450">
              <a:buFont typeface="Arial" panose="020B0604020202020204" pitchFamily="34" charset="0"/>
              <a:buChar char="•"/>
            </a:pPr>
            <a:endParaRPr lang="en-IN" sz="1200" dirty="0"/>
          </a:p>
          <a:p>
            <a:pPr marL="171450" indent="-171450">
              <a:buFont typeface="Arial" panose="020B0604020202020204" pitchFamily="34" charset="0"/>
              <a:buChar char="•"/>
            </a:pPr>
            <a:r>
              <a:rPr lang="en-IN" sz="1200" b="1" dirty="0"/>
              <a:t>docker rm </a:t>
            </a:r>
            <a:r>
              <a:rPr lang="en-IN" sz="1200" dirty="0"/>
              <a:t>-  Removes a container Example: docker rm &lt;container id or name&gt;</a:t>
            </a:r>
          </a:p>
          <a:p>
            <a:pPr marL="171450" indent="-171450">
              <a:buFont typeface="Arial" panose="020B0604020202020204" pitchFamily="34" charset="0"/>
              <a:buChar char="•"/>
            </a:pPr>
            <a:endParaRPr lang="en-IN" sz="1200" dirty="0"/>
          </a:p>
        </p:txBody>
      </p:sp>
    </p:spTree>
    <p:extLst>
      <p:ext uri="{BB962C8B-B14F-4D97-AF65-F5344CB8AC3E}">
        <p14:creationId xmlns:p14="http://schemas.microsoft.com/office/powerpoint/2010/main" val="199478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17965-77D1-2B33-8F00-8EF852C7847B}"/>
              </a:ext>
            </a:extLst>
          </p:cNvPr>
          <p:cNvSpPr>
            <a:spLocks noGrp="1"/>
          </p:cNvSpPr>
          <p:nvPr>
            <p:ph type="title"/>
          </p:nvPr>
        </p:nvSpPr>
        <p:spPr/>
        <p:txBody>
          <a:bodyPr/>
          <a:lstStyle/>
          <a:p>
            <a:r>
              <a:rPr lang="en-US" dirty="0"/>
              <a:t>Selenium Grid Setup with Docker Containers </a:t>
            </a:r>
            <a:endParaRPr lang="en-IN" dirty="0"/>
          </a:p>
        </p:txBody>
      </p:sp>
      <p:sp>
        <p:nvSpPr>
          <p:cNvPr id="4" name="Footer Placeholder 3">
            <a:extLst>
              <a:ext uri="{FF2B5EF4-FFF2-40B4-BE49-F238E27FC236}">
                <a16:creationId xmlns:a16="http://schemas.microsoft.com/office/drawing/2014/main" id="{FAB5E9CF-5D0C-2519-2D10-EC3A08FA3B64}"/>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00197137-9BBA-8D9C-8AC5-B0357AA33734}"/>
              </a:ext>
            </a:extLst>
          </p:cNvPr>
          <p:cNvSpPr>
            <a:spLocks noGrp="1"/>
          </p:cNvSpPr>
          <p:nvPr>
            <p:ph type="sldNum" sz="quarter" idx="12"/>
          </p:nvPr>
        </p:nvSpPr>
        <p:spPr/>
        <p:txBody>
          <a:bodyPr/>
          <a:lstStyle/>
          <a:p>
            <a:fld id="{38826FC0-333C-E549-9FA3-0EE43DF298A3}" type="slidenum">
              <a:rPr lang="en-US" smtClean="0"/>
              <a:pPr/>
              <a:t>9</a:t>
            </a:fld>
            <a:endParaRPr lang="en-US" dirty="0"/>
          </a:p>
        </p:txBody>
      </p:sp>
      <p:sp>
        <p:nvSpPr>
          <p:cNvPr id="7" name="TextBox 6">
            <a:extLst>
              <a:ext uri="{FF2B5EF4-FFF2-40B4-BE49-F238E27FC236}">
                <a16:creationId xmlns:a16="http://schemas.microsoft.com/office/drawing/2014/main" id="{EC888F7A-0D8D-F0AC-D211-C837FE029A85}"/>
              </a:ext>
            </a:extLst>
          </p:cNvPr>
          <p:cNvSpPr txBox="1"/>
          <p:nvPr/>
        </p:nvSpPr>
        <p:spPr>
          <a:xfrm>
            <a:off x="467360" y="972182"/>
            <a:ext cx="5628640" cy="1477328"/>
          </a:xfrm>
          <a:prstGeom prst="rect">
            <a:avLst/>
          </a:prstGeom>
          <a:noFill/>
        </p:spPr>
        <p:txBody>
          <a:bodyPr wrap="square">
            <a:spAutoFit/>
          </a:bodyPr>
          <a:lstStyle/>
          <a:p>
            <a:r>
              <a:rPr lang="en-IN" sz="1000" b="1" dirty="0"/>
              <a:t>Pull Docker Images</a:t>
            </a:r>
          </a:p>
          <a:p>
            <a:endParaRPr lang="en-IN" sz="1000" dirty="0"/>
          </a:p>
          <a:p>
            <a:pPr marL="171450" indent="-171450">
              <a:buFont typeface="Arial" panose="020B0604020202020204" pitchFamily="34" charset="0"/>
              <a:buChar char="•"/>
            </a:pPr>
            <a:r>
              <a:rPr lang="en-IN" sz="1000" dirty="0"/>
              <a:t>Pull Selenium-hub image using command </a:t>
            </a:r>
            <a:r>
              <a:rPr lang="en-IN" sz="1000" b="1" dirty="0"/>
              <a:t>docker pull selenium/hub </a:t>
            </a:r>
          </a:p>
          <a:p>
            <a:pPr marL="171450" indent="-171450">
              <a:buFont typeface="Arial" panose="020B0604020202020204" pitchFamily="34" charset="0"/>
              <a:buChar char="•"/>
            </a:pPr>
            <a:r>
              <a:rPr lang="en-IN" sz="1000" dirty="0"/>
              <a:t>Pull </a:t>
            </a:r>
            <a:r>
              <a:rPr lang="en-IN" sz="1000" dirty="0" err="1"/>
              <a:t>FireFox</a:t>
            </a:r>
            <a:r>
              <a:rPr lang="en-IN" sz="1000" dirty="0"/>
              <a:t> image using command </a:t>
            </a:r>
            <a:r>
              <a:rPr lang="en-IN" sz="1000" b="1" dirty="0"/>
              <a:t>docker pull selenium/node-</a:t>
            </a:r>
            <a:r>
              <a:rPr lang="en-IN" sz="1000" b="1" dirty="0" err="1"/>
              <a:t>firefox</a:t>
            </a:r>
            <a:endParaRPr lang="en-IN" sz="1000" b="1" dirty="0"/>
          </a:p>
          <a:p>
            <a:pPr marL="171450" indent="-171450">
              <a:buFont typeface="Arial" panose="020B0604020202020204" pitchFamily="34" charset="0"/>
              <a:buChar char="•"/>
            </a:pPr>
            <a:r>
              <a:rPr lang="en-IN" sz="1000" dirty="0"/>
              <a:t>Pull Chrome image using below command  </a:t>
            </a:r>
            <a:r>
              <a:rPr lang="en-IN" sz="1000" b="1" dirty="0"/>
              <a:t>docker pull selenium/node-chrome</a:t>
            </a:r>
          </a:p>
          <a:p>
            <a:endParaRPr lang="en-IN" sz="1000" b="1" dirty="0"/>
          </a:p>
          <a:p>
            <a:r>
              <a:rPr lang="en-IN" sz="1000" b="1" dirty="0"/>
              <a:t>Verify Images </a:t>
            </a:r>
          </a:p>
          <a:p>
            <a:endParaRPr lang="en-IN" sz="1000" dirty="0"/>
          </a:p>
          <a:p>
            <a:r>
              <a:rPr lang="en-IN" sz="1000" b="1" dirty="0"/>
              <a:t>docker images </a:t>
            </a:r>
          </a:p>
        </p:txBody>
      </p:sp>
      <p:sp>
        <p:nvSpPr>
          <p:cNvPr id="9" name="TextBox 8">
            <a:extLst>
              <a:ext uri="{FF2B5EF4-FFF2-40B4-BE49-F238E27FC236}">
                <a16:creationId xmlns:a16="http://schemas.microsoft.com/office/drawing/2014/main" id="{3D336CD6-B087-6C3D-9852-52A356D93256}"/>
              </a:ext>
            </a:extLst>
          </p:cNvPr>
          <p:cNvSpPr txBox="1"/>
          <p:nvPr/>
        </p:nvSpPr>
        <p:spPr>
          <a:xfrm>
            <a:off x="457200" y="2655825"/>
            <a:ext cx="6289040" cy="2246769"/>
          </a:xfrm>
          <a:prstGeom prst="rect">
            <a:avLst/>
          </a:prstGeom>
          <a:noFill/>
        </p:spPr>
        <p:txBody>
          <a:bodyPr wrap="square">
            <a:spAutoFit/>
          </a:bodyPr>
          <a:lstStyle/>
          <a:p>
            <a:r>
              <a:rPr lang="en-US" sz="1000" b="1" dirty="0"/>
              <a:t>Running Docker Containers by using below command</a:t>
            </a:r>
          </a:p>
          <a:p>
            <a:endParaRPr lang="en-US" sz="1000" b="1" dirty="0"/>
          </a:p>
          <a:p>
            <a:r>
              <a:rPr lang="en-IN" sz="1000" b="1" dirty="0"/>
              <a:t>docker network create grid</a:t>
            </a:r>
          </a:p>
          <a:p>
            <a:endParaRPr lang="en-IN" sz="1000" b="1" dirty="0"/>
          </a:p>
          <a:p>
            <a:r>
              <a:rPr lang="en-IN" sz="1000" b="1" dirty="0"/>
              <a:t>docker run -d -p 4442-4444:4442-4444 --net grid --name selenium-hub selenium/hub</a:t>
            </a:r>
          </a:p>
          <a:p>
            <a:endParaRPr lang="en-IN" sz="1000" b="1" dirty="0"/>
          </a:p>
          <a:p>
            <a:r>
              <a:rPr lang="en-IN" sz="1000" b="1" dirty="0"/>
              <a:t>docker run -d --net grid -e SE_EVENT_BUS_HOST=selenium-hub -e SE_EVENT_BUS_PUBLISH_PORT=4442 -e </a:t>
            </a:r>
          </a:p>
          <a:p>
            <a:r>
              <a:rPr lang="en-IN" sz="1000" b="1" dirty="0"/>
              <a:t>SE_EVENT_BUS_SUBSCRIBE_PORT=4443 selenium/node-chrome</a:t>
            </a:r>
          </a:p>
          <a:p>
            <a:endParaRPr lang="en-IN" sz="1000" b="1" dirty="0"/>
          </a:p>
          <a:p>
            <a:r>
              <a:rPr lang="en-IN" sz="1000" b="1" dirty="0"/>
              <a:t>docker run -d --net grid -e SE_EVENT_BUS_HOST=selenium-hub -e SE_EVENT_BUS_PUBLISH_PORT=4442 -e </a:t>
            </a:r>
          </a:p>
          <a:p>
            <a:r>
              <a:rPr lang="en-IN" sz="1000" b="1" dirty="0"/>
              <a:t>SE_EVENT_BUS_SUBSCRIBE_PORT=4443 selenium/node-</a:t>
            </a:r>
            <a:r>
              <a:rPr lang="en-IN" sz="1000" b="1" dirty="0" err="1"/>
              <a:t>firefox</a:t>
            </a:r>
            <a:endParaRPr lang="en-IN" sz="1000" b="1" dirty="0"/>
          </a:p>
          <a:p>
            <a:endParaRPr lang="en-IN" sz="1000" b="1" dirty="0"/>
          </a:p>
        </p:txBody>
      </p:sp>
      <p:sp>
        <p:nvSpPr>
          <p:cNvPr id="11" name="TextBox 10">
            <a:extLst>
              <a:ext uri="{FF2B5EF4-FFF2-40B4-BE49-F238E27FC236}">
                <a16:creationId xmlns:a16="http://schemas.microsoft.com/office/drawing/2014/main" id="{51487112-5B1B-9442-046C-D486C80C9D32}"/>
              </a:ext>
            </a:extLst>
          </p:cNvPr>
          <p:cNvSpPr txBox="1"/>
          <p:nvPr/>
        </p:nvSpPr>
        <p:spPr>
          <a:xfrm>
            <a:off x="416560" y="4943810"/>
            <a:ext cx="6096000" cy="707886"/>
          </a:xfrm>
          <a:prstGeom prst="rect">
            <a:avLst/>
          </a:prstGeom>
          <a:noFill/>
        </p:spPr>
        <p:txBody>
          <a:bodyPr wrap="square">
            <a:spAutoFit/>
          </a:bodyPr>
          <a:lstStyle/>
          <a:p>
            <a:r>
              <a:rPr lang="en-US" sz="1000" dirty="0"/>
              <a:t>When you are done using the Grid, and the containers have exited, the network can be removed with the following command: </a:t>
            </a:r>
          </a:p>
          <a:p>
            <a:endParaRPr lang="en-US" sz="1000" dirty="0"/>
          </a:p>
          <a:p>
            <a:r>
              <a:rPr lang="en-US" sz="1000" b="1" dirty="0"/>
              <a:t>docker network rm grid </a:t>
            </a:r>
            <a:r>
              <a:rPr lang="en-US" sz="1000" dirty="0"/>
              <a:t># Removes the grid network </a:t>
            </a:r>
            <a:endParaRPr lang="en-IN" sz="1000" dirty="0"/>
          </a:p>
        </p:txBody>
      </p:sp>
      <p:sp>
        <p:nvSpPr>
          <p:cNvPr id="13" name="TextBox 12">
            <a:extLst>
              <a:ext uri="{FF2B5EF4-FFF2-40B4-BE49-F238E27FC236}">
                <a16:creationId xmlns:a16="http://schemas.microsoft.com/office/drawing/2014/main" id="{9CE6DD7C-52C5-25AF-5A80-B0E5E6EFEFA1}"/>
              </a:ext>
            </a:extLst>
          </p:cNvPr>
          <p:cNvSpPr txBox="1"/>
          <p:nvPr/>
        </p:nvSpPr>
        <p:spPr>
          <a:xfrm>
            <a:off x="6990080" y="972182"/>
            <a:ext cx="6096000" cy="246221"/>
          </a:xfrm>
          <a:prstGeom prst="rect">
            <a:avLst/>
          </a:prstGeom>
          <a:noFill/>
        </p:spPr>
        <p:txBody>
          <a:bodyPr wrap="square">
            <a:spAutoFit/>
          </a:bodyPr>
          <a:lstStyle/>
          <a:p>
            <a:r>
              <a:rPr lang="en-US" sz="1000" b="1" dirty="0"/>
              <a:t>Selenium Grid Setup with docker-</a:t>
            </a:r>
            <a:r>
              <a:rPr lang="en-US" sz="1000" b="1" dirty="0" err="1"/>
              <a:t>compose.yaml</a:t>
            </a:r>
            <a:r>
              <a:rPr lang="en-US" sz="1000" b="1" dirty="0"/>
              <a:t> file</a:t>
            </a:r>
            <a:endParaRPr lang="en-IN" sz="1000" b="1" dirty="0"/>
          </a:p>
        </p:txBody>
      </p:sp>
      <p:sp>
        <p:nvSpPr>
          <p:cNvPr id="15" name="TextBox 14">
            <a:extLst>
              <a:ext uri="{FF2B5EF4-FFF2-40B4-BE49-F238E27FC236}">
                <a16:creationId xmlns:a16="http://schemas.microsoft.com/office/drawing/2014/main" id="{E544388B-6CC5-AA98-2FE9-846FEF69BB65}"/>
              </a:ext>
            </a:extLst>
          </p:cNvPr>
          <p:cNvSpPr txBox="1"/>
          <p:nvPr/>
        </p:nvSpPr>
        <p:spPr>
          <a:xfrm>
            <a:off x="6512560" y="1206304"/>
            <a:ext cx="5278120" cy="5016758"/>
          </a:xfrm>
          <a:prstGeom prst="rect">
            <a:avLst/>
          </a:prstGeom>
          <a:noFill/>
        </p:spPr>
        <p:txBody>
          <a:bodyPr wrap="square">
            <a:spAutoFit/>
          </a:bodyPr>
          <a:lstStyle/>
          <a:p>
            <a:r>
              <a:rPr lang="en-IN" sz="1000" dirty="0"/>
              <a:t>1. Create a file docker-</a:t>
            </a:r>
            <a:r>
              <a:rPr lang="en-IN" sz="1000" dirty="0" err="1"/>
              <a:t>compose.yaml</a:t>
            </a:r>
            <a:r>
              <a:rPr lang="en-IN" sz="1000" dirty="0"/>
              <a:t> with Required config (Ref: </a:t>
            </a:r>
            <a:r>
              <a:rPr lang="en-IN" sz="1000" dirty="0">
                <a:hlinkClick r:id="rId2"/>
              </a:rPr>
              <a:t>https://github.com/SeleniumHQ/dockerselenium</a:t>
            </a:r>
            <a:r>
              <a:rPr lang="en-IN" sz="1000" dirty="0"/>
              <a:t>)</a:t>
            </a:r>
          </a:p>
          <a:p>
            <a:endParaRPr lang="en-IN" sz="1000" dirty="0"/>
          </a:p>
          <a:p>
            <a:r>
              <a:rPr lang="en-IN" sz="1000" dirty="0"/>
              <a:t> docker-</a:t>
            </a:r>
            <a:r>
              <a:rPr lang="en-IN" sz="1000" dirty="0" err="1"/>
              <a:t>compose.yaml</a:t>
            </a:r>
            <a:r>
              <a:rPr lang="en-IN" sz="1000" dirty="0"/>
              <a:t> </a:t>
            </a:r>
          </a:p>
          <a:p>
            <a:endParaRPr lang="en-IN" sz="1000" dirty="0"/>
          </a:p>
          <a:p>
            <a:r>
              <a:rPr lang="en-IN" sz="1000" dirty="0"/>
              <a:t>version: '3’</a:t>
            </a:r>
          </a:p>
          <a:p>
            <a:r>
              <a:rPr lang="en-IN" sz="1000" dirty="0"/>
              <a:t>services:</a:t>
            </a:r>
          </a:p>
          <a:p>
            <a:r>
              <a:rPr lang="en-IN" sz="1000" dirty="0"/>
              <a:t> selenium-hub: </a:t>
            </a:r>
          </a:p>
          <a:p>
            <a:r>
              <a:rPr lang="en-IN" sz="1000" dirty="0"/>
              <a:t>   Image: selenium/hub </a:t>
            </a:r>
          </a:p>
          <a:p>
            <a:r>
              <a:rPr lang="en-IN" sz="1000" dirty="0"/>
              <a:t>   ports: </a:t>
            </a:r>
          </a:p>
          <a:p>
            <a:r>
              <a:rPr lang="en-IN" sz="1000" dirty="0"/>
              <a:t>   - "4442-4444:4442-4444" </a:t>
            </a:r>
          </a:p>
          <a:p>
            <a:r>
              <a:rPr lang="en-IN" sz="1000" dirty="0"/>
              <a:t>    networks: </a:t>
            </a:r>
          </a:p>
          <a:p>
            <a:r>
              <a:rPr lang="en-IN" sz="1000" dirty="0"/>
              <a:t>    - grid </a:t>
            </a:r>
          </a:p>
          <a:p>
            <a:endParaRPr lang="en-IN" sz="1000" dirty="0"/>
          </a:p>
          <a:p>
            <a:r>
              <a:rPr lang="en-IN" sz="1000" dirty="0"/>
              <a:t>node-chrome:</a:t>
            </a:r>
          </a:p>
          <a:p>
            <a:r>
              <a:rPr lang="en-IN" sz="1000" dirty="0"/>
              <a:t> image: selenium/node-chrome environment: </a:t>
            </a:r>
          </a:p>
          <a:p>
            <a:pPr marL="171450" indent="-171450">
              <a:buFontTx/>
              <a:buChar char="-"/>
            </a:pPr>
            <a:r>
              <a:rPr lang="en-IN" sz="1000" dirty="0"/>
              <a:t>SE_EVENT_BUS_HOST=selenium-hub </a:t>
            </a:r>
          </a:p>
          <a:p>
            <a:pPr marL="171450" indent="-171450">
              <a:buFontTx/>
              <a:buChar char="-"/>
            </a:pPr>
            <a:r>
              <a:rPr lang="en-IN" sz="1000" dirty="0"/>
              <a:t>SE_EVENT_BUS_PUBLISH_PORT=4442 </a:t>
            </a:r>
          </a:p>
          <a:p>
            <a:pPr marL="171450" indent="-171450">
              <a:buFontTx/>
              <a:buChar char="-"/>
            </a:pPr>
            <a:r>
              <a:rPr lang="en-IN" sz="1000" dirty="0"/>
              <a:t>SE_EVENT_BUS_SUBSCRIBE_PORT=4443</a:t>
            </a:r>
          </a:p>
          <a:p>
            <a:r>
              <a:rPr lang="en-IN" sz="1000" dirty="0"/>
              <a:t> networks: </a:t>
            </a:r>
          </a:p>
          <a:p>
            <a:r>
              <a:rPr lang="en-IN" sz="1000" dirty="0"/>
              <a:t>   - grid </a:t>
            </a:r>
          </a:p>
          <a:p>
            <a:endParaRPr lang="en-IN" sz="1000" dirty="0"/>
          </a:p>
          <a:p>
            <a:r>
              <a:rPr lang="en-IN" sz="1000" dirty="0"/>
              <a:t>node-</a:t>
            </a:r>
            <a:r>
              <a:rPr lang="en-IN" sz="1000" dirty="0" err="1"/>
              <a:t>firefox</a:t>
            </a:r>
            <a:r>
              <a:rPr lang="en-IN" sz="1000" dirty="0"/>
              <a:t>: </a:t>
            </a:r>
          </a:p>
          <a:p>
            <a:r>
              <a:rPr lang="en-IN" sz="1000" dirty="0"/>
              <a:t>image: selenium/node-</a:t>
            </a:r>
            <a:r>
              <a:rPr lang="en-IN" sz="1000" dirty="0" err="1"/>
              <a:t>firefox</a:t>
            </a:r>
            <a:r>
              <a:rPr lang="en-IN" sz="1000" dirty="0"/>
              <a:t> environment: </a:t>
            </a:r>
          </a:p>
          <a:p>
            <a:r>
              <a:rPr lang="en-IN" sz="1000" dirty="0"/>
              <a:t>- SE_EVENT_BUS_HOST=selenium-hub </a:t>
            </a:r>
          </a:p>
          <a:p>
            <a:r>
              <a:rPr lang="en-IN" sz="1000" dirty="0"/>
              <a:t>- SE_EVENT_BUS_PUBLISH_PORT=4442 </a:t>
            </a:r>
          </a:p>
          <a:p>
            <a:r>
              <a:rPr lang="en-IN" sz="1000" dirty="0"/>
              <a:t>- SE_EVENT_BUS_SUBSCRIBE_PORT=4443 networks: - grid networks: grid: driver: bridge </a:t>
            </a:r>
          </a:p>
          <a:p>
            <a:endParaRPr lang="en-IN" sz="1000" dirty="0"/>
          </a:p>
          <a:p>
            <a:r>
              <a:rPr lang="en-IN" sz="1000" dirty="0"/>
              <a:t>2. Run docker-</a:t>
            </a:r>
            <a:r>
              <a:rPr lang="en-IN" sz="1000" dirty="0" err="1"/>
              <a:t>compose.yaml</a:t>
            </a:r>
            <a:r>
              <a:rPr lang="en-IN" sz="1000" dirty="0"/>
              <a:t> </a:t>
            </a:r>
            <a:r>
              <a:rPr lang="en-IN" sz="1000" b="1" dirty="0"/>
              <a:t>docker-compose up </a:t>
            </a:r>
          </a:p>
          <a:p>
            <a:r>
              <a:rPr lang="en-IN" sz="1000" dirty="0"/>
              <a:t>3. To check hub &amp; nodes running state: http://localhost:4444/grid/console </a:t>
            </a:r>
          </a:p>
          <a:p>
            <a:r>
              <a:rPr lang="en-IN" sz="1000" dirty="0"/>
              <a:t>4. To stop the grid and cleanup the created containers: </a:t>
            </a:r>
            <a:r>
              <a:rPr lang="en-IN" sz="1000" b="1" dirty="0"/>
              <a:t>docker-compose down</a:t>
            </a:r>
          </a:p>
        </p:txBody>
      </p:sp>
    </p:spTree>
    <p:extLst>
      <p:ext uri="{BB962C8B-B14F-4D97-AF65-F5344CB8AC3E}">
        <p14:creationId xmlns:p14="http://schemas.microsoft.com/office/powerpoint/2010/main" val="13507767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4B404F-09F1-40CA-84E2-FD9F4E5EB219}">
  <ds:schemaRefs>
    <ds:schemaRef ds:uri="http://purl.org/dc/dcmitype/"/>
    <ds:schemaRef ds:uri="85aa0b7b-c2ff-4619-b015-c2745a4ebbba"/>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purl.org/dc/terms/"/>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33B7C277-7563-48D9-B200-95B00BA2069F}">
  <ds:schemaRefs>
    <ds:schemaRef ds:uri="http://schemas.microsoft.com/sharepoint/v3/contenttype/forms"/>
  </ds:schemaRefs>
</ds:datastoreItem>
</file>

<file path=customXml/itemProps3.xml><?xml version="1.0" encoding="utf-8"?>
<ds:datastoreItem xmlns:ds="http://schemas.openxmlformats.org/officeDocument/2006/customXml" ds:itemID="{08EFB4C7-205D-4E6A-886B-BBFFE9BD0B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a0b7b-c2ff-4619-b015-c2745a4eb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TotalTime>6241</TotalTime>
  <Words>1718</Words>
  <Application>Microsoft Office PowerPoint</Application>
  <PresentationFormat>Widescreen</PresentationFormat>
  <Paragraphs>187</Paragraphs>
  <Slides>9</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Comic Sans MS</vt:lpstr>
      <vt:lpstr>Cognizant_2024</vt:lpstr>
      <vt:lpstr>Grid</vt:lpstr>
      <vt:lpstr>Selenium Grid</vt:lpstr>
      <vt:lpstr>Selenium Grid</vt:lpstr>
      <vt:lpstr>Selenium 4 Architecture</vt:lpstr>
      <vt:lpstr>How to run Selenium Grid?</vt:lpstr>
      <vt:lpstr>DOCKER</vt:lpstr>
      <vt:lpstr>Container</vt:lpstr>
      <vt:lpstr>DOCKER</vt:lpstr>
      <vt:lpstr>Selenium Grid Setup with Docker Containers </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lastModifiedBy>Mohan, Poornima Swarna (Cognizant)</cp:lastModifiedBy>
  <cp:revision>3</cp:revision>
  <dcterms:created xsi:type="dcterms:W3CDTF">2025-09-17T08:32:50Z</dcterms:created>
  <dcterms:modified xsi:type="dcterms:W3CDTF">2026-01-21T06:44:17Z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